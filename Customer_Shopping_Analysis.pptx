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731520"/>
            <a:ext cx="91440" cy="73152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32688" y="768096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8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PROJECT  /  END-TO-END DATA ANALYTICS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1353312"/>
            <a:ext cx="685800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Shopping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Behavior Analysis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32688" y="2971800"/>
            <a:ext cx="6400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D3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Turning 3,900 purchase records into business insights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932688" y="365760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254E70"/>
          </a:solidFill>
          <a:ln w="1270">
            <a:solidFill>
              <a:srgbClr val="254E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87552" y="366674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49424" y="3657600"/>
            <a:ext cx="1170432" cy="347472"/>
          </a:xfrm>
          <a:prstGeom prst="roundRect">
            <a:avLst>
              <a:gd name="adj" fmla="val 21053"/>
            </a:avLst>
          </a:prstGeom>
          <a:solidFill>
            <a:srgbClr val="254E70"/>
          </a:solidFill>
          <a:ln w="1270">
            <a:solidFill>
              <a:srgbClr val="254E7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304288" y="3666744"/>
            <a:ext cx="1060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3657600"/>
            <a:ext cx="1353312" cy="347472"/>
          </a:xfrm>
          <a:prstGeom prst="roundRect">
            <a:avLst>
              <a:gd name="adj" fmla="val 21053"/>
            </a:avLst>
          </a:prstGeom>
          <a:solidFill>
            <a:srgbClr val="254E70"/>
          </a:solidFill>
          <a:ln w="1270">
            <a:solidFill>
              <a:srgbClr val="254E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21024" y="3666744"/>
            <a:ext cx="1243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541324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spc="100" kern="0" dirty="0">
                <a:solidFill>
                  <a:srgbClr val="B3C1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PREPARATION  -&gt;  BUSINESS QUERIES  -&gt;  INTERACTIVE DASHBOARD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32688" y="5797296"/>
            <a:ext cx="7205472" cy="0"/>
          </a:xfrm>
          <a:prstGeom prst="line">
            <a:avLst/>
          </a:prstGeom>
          <a:noFill/>
          <a:ln w="12700">
            <a:solidFill>
              <a:srgbClr val="3D567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32688" y="59436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D3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analytics workflow from raw data to recommendations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39912" y="1078992"/>
            <a:ext cx="2944368" cy="4553712"/>
          </a:xfrm>
          <a:prstGeom prst="roundRect">
            <a:avLst>
              <a:gd name="adj" fmla="val 2484"/>
            </a:avLst>
          </a:prstGeom>
          <a:solidFill>
            <a:srgbClr val="1B3152"/>
          </a:solidFill>
          <a:ln w="10160">
            <a:solidFill>
              <a:srgbClr val="2F496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1389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14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PIPELINE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8705088" y="1856232"/>
            <a:ext cx="2395728" cy="694944"/>
          </a:xfrm>
          <a:prstGeom prst="roundRect">
            <a:avLst>
              <a:gd name="adj" fmla="val 10526"/>
            </a:avLst>
          </a:prstGeom>
          <a:solidFill>
            <a:srgbClr val="203A5F"/>
          </a:solidFill>
          <a:ln w="10160">
            <a:solidFill>
              <a:srgbClr val="3855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0" y="200253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869680" y="201168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9354312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354312" y="22219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0C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+ engineer data</a:t>
            </a:r>
            <a:endParaRPr lang="en-US" sz="920" dirty="0"/>
          </a:p>
        </p:txBody>
      </p:sp>
      <p:sp>
        <p:nvSpPr>
          <p:cNvPr id="22" name="Text 20"/>
          <p:cNvSpPr txBox="1"/>
          <p:nvPr/>
        </p:nvSpPr>
        <p:spPr>
          <a:xfrm>
            <a:off x="9738360" y="257860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A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705088" y="2898648"/>
            <a:ext cx="2395728" cy="694944"/>
          </a:xfrm>
          <a:prstGeom prst="roundRect">
            <a:avLst>
              <a:gd name="adj" fmla="val 10526"/>
            </a:avLst>
          </a:prstGeom>
          <a:solidFill>
            <a:srgbClr val="203A5F"/>
          </a:solidFill>
          <a:ln w="10160">
            <a:solidFill>
              <a:srgbClr val="3855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0" y="304495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69680" y="3054096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9354312" y="30083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Analyze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354312" y="3264408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0C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SQL questions</a:t>
            </a:r>
            <a:endParaRPr lang="en-US" sz="920" dirty="0"/>
          </a:p>
        </p:txBody>
      </p:sp>
      <p:sp>
        <p:nvSpPr>
          <p:cNvPr id="28" name="Text 26"/>
          <p:cNvSpPr txBox="1"/>
          <p:nvPr/>
        </p:nvSpPr>
        <p:spPr>
          <a:xfrm>
            <a:off x="9738360" y="36210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FA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8705088" y="3941064"/>
            <a:ext cx="2395728" cy="694944"/>
          </a:xfrm>
          <a:prstGeom prst="roundRect">
            <a:avLst>
              <a:gd name="adj" fmla="val 10526"/>
            </a:avLst>
          </a:prstGeom>
          <a:solidFill>
            <a:srgbClr val="203A5F"/>
          </a:solidFill>
          <a:ln w="10160">
            <a:solidFill>
              <a:srgbClr val="38557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0" y="408736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869680" y="409651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9354312" y="405079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9354312" y="430682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0CC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</a:t>
            </a:r>
            <a:endParaRPr lang="en-US" sz="920" dirty="0"/>
          </a:p>
        </p:txBody>
      </p:sp>
      <p:sp>
        <p:nvSpPr>
          <p:cNvPr id="34" name="Text 32"/>
          <p:cNvSpPr txBox="1"/>
          <p:nvPr/>
        </p:nvSpPr>
        <p:spPr>
          <a:xfrm>
            <a:off x="8732520" y="505663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8FA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PRESENTATION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SNAPSHOT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at a glance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transaction dataset connected data preparation, SQL analysis and dashboard storytelling.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1417320"/>
            <a:ext cx="2148840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417320"/>
            <a:ext cx="64008" cy="1307592"/>
          </a:xfrm>
          <a:prstGeom prst="rect">
            <a:avLst>
              <a:gd name="adj" fmla="val 114286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15453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</a:t>
            </a:r>
            <a:endParaRPr lang="en-US" sz="830" dirty="0"/>
          </a:p>
        </p:txBody>
      </p:sp>
      <p:sp>
        <p:nvSpPr>
          <p:cNvPr id="11" name="Text 9"/>
          <p:cNvSpPr txBox="1"/>
          <p:nvPr/>
        </p:nvSpPr>
        <p:spPr>
          <a:xfrm>
            <a:off x="694944" y="17647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3,900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" y="244144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Purchases in the dataset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1417320"/>
            <a:ext cx="2148840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1417320"/>
            <a:ext cx="64008" cy="1307592"/>
          </a:xfrm>
          <a:prstGeom prst="rect">
            <a:avLst>
              <a:gd name="adj" fmla="val 114286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99232" y="15453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FIELDS</a:t>
            </a:r>
            <a:endParaRPr lang="en-US" sz="830" dirty="0"/>
          </a:p>
        </p:txBody>
      </p:sp>
      <p:sp>
        <p:nvSpPr>
          <p:cNvPr id="16" name="Text 14"/>
          <p:cNvSpPr txBox="1"/>
          <p:nvPr/>
        </p:nvSpPr>
        <p:spPr>
          <a:xfrm>
            <a:off x="2999232" y="17647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999232" y="244144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before cleanup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138928" y="1417320"/>
            <a:ext cx="2148840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38928" y="1417320"/>
            <a:ext cx="64008" cy="1307592"/>
          </a:xfrm>
          <a:prstGeom prst="rect">
            <a:avLst>
              <a:gd name="adj" fmla="val 114286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15453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830" dirty="0"/>
          </a:p>
        </p:txBody>
      </p:sp>
      <p:sp>
        <p:nvSpPr>
          <p:cNvPr id="21" name="Text 19"/>
          <p:cNvSpPr txBox="1"/>
          <p:nvPr/>
        </p:nvSpPr>
        <p:spPr>
          <a:xfrm>
            <a:off x="5303520" y="17647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5303520" y="244144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review ratings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43216" y="1417320"/>
            <a:ext cx="2148840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43216" y="1417320"/>
            <a:ext cx="64008" cy="1307592"/>
          </a:xfrm>
          <a:prstGeom prst="rect">
            <a:avLst>
              <a:gd name="adj" fmla="val 114286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07808" y="15453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PURCHASE</a:t>
            </a:r>
            <a:endParaRPr lang="en-US" sz="83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17647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$59.76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7607808" y="244144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KPI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747504" y="1417320"/>
            <a:ext cx="2148840" cy="1307592"/>
          </a:xfrm>
          <a:prstGeom prst="roundRect">
            <a:avLst>
              <a:gd name="adj" fmla="val 5594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47504" y="1417320"/>
            <a:ext cx="64008" cy="1307592"/>
          </a:xfrm>
          <a:prstGeom prst="rect">
            <a:avLst>
              <a:gd name="adj" fmla="val 114286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12096" y="1545336"/>
            <a:ext cx="18562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AVG. RATING</a:t>
            </a:r>
            <a:endParaRPr lang="en-US" sz="830" dirty="0"/>
          </a:p>
        </p:txBody>
      </p:sp>
      <p:sp>
        <p:nvSpPr>
          <p:cNvPr id="31" name="Text 29"/>
          <p:cNvSpPr txBox="1"/>
          <p:nvPr/>
        </p:nvSpPr>
        <p:spPr>
          <a:xfrm>
            <a:off x="9912096" y="1764792"/>
            <a:ext cx="1856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3.75</a:t>
            </a:r>
            <a:endParaRPr lang="en-US" sz="2400" dirty="0"/>
          </a:p>
        </p:txBody>
      </p:sp>
      <p:sp>
        <p:nvSpPr>
          <p:cNvPr id="32" name="Text 30"/>
          <p:cNvSpPr txBox="1"/>
          <p:nvPr/>
        </p:nvSpPr>
        <p:spPr>
          <a:xfrm>
            <a:off x="9912096" y="2441448"/>
            <a:ext cx="1856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KPI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0352" y="2990088"/>
            <a:ext cx="6629400" cy="2514600"/>
          </a:xfrm>
          <a:prstGeom prst="roundRect">
            <a:avLst>
              <a:gd name="adj" fmla="val 2909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86384" y="32278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SUBSCRIPTION MIX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04672" y="363931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73%</a:t>
            </a:r>
            <a:endParaRPr lang="en-US" sz="36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" y="427024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subscribed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743200" y="3639312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6B8A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27%</a:t>
            </a:r>
            <a:endParaRPr lang="en-US" sz="3600" dirty="0"/>
          </a:p>
        </p:txBody>
      </p:sp>
      <p:sp>
        <p:nvSpPr>
          <p:cNvPr id="38" name="Text 36"/>
          <p:cNvSpPr txBox="1"/>
          <p:nvPr/>
        </p:nvSpPr>
        <p:spPr>
          <a:xfrm>
            <a:off x="2779776" y="4270248"/>
            <a:ext cx="1508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22960" y="4800600"/>
            <a:ext cx="5943600" cy="274320"/>
          </a:xfrm>
          <a:prstGeom prst="roundRect">
            <a:avLst>
              <a:gd name="adj" fmla="val 26667"/>
            </a:avLst>
          </a:prstGeom>
          <a:solidFill>
            <a:srgbClr val="E6EBF3"/>
          </a:solidFill>
          <a:ln w="1270">
            <a:solidFill>
              <a:srgbClr val="E6EBF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" y="4800600"/>
            <a:ext cx="4338828" cy="274320"/>
          </a:xfrm>
          <a:prstGeom prst="roundRect">
            <a:avLst>
              <a:gd name="adj" fmla="val 26667"/>
            </a:avLst>
          </a:prstGeom>
          <a:solidFill>
            <a:srgbClr val="1B3152"/>
          </a:solidFill>
          <a:ln w="1270">
            <a:solidFill>
              <a:srgbClr val="1B315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148072" y="4800600"/>
            <a:ext cx="1618488" cy="274320"/>
          </a:xfrm>
          <a:prstGeom prst="roundRect">
            <a:avLst>
              <a:gd name="adj" fmla="val 26667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5193792"/>
            <a:ext cx="5961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dashboard shows customer subscription status as 27% Yes / 73% No.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7388352" y="2990088"/>
            <a:ext cx="4279392" cy="2514600"/>
          </a:xfrm>
          <a:prstGeom prst="roundRect">
            <a:avLst>
              <a:gd name="adj" fmla="val 2909"/>
            </a:avLst>
          </a:prstGeom>
          <a:solidFill>
            <a:srgbClr val="12213A"/>
          </a:solidFill>
          <a:ln w="1270">
            <a:solidFill>
              <a:srgbClr val="12213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680960" y="324612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QUESTIONS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99248" y="3648456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927848" y="3602736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contributes revenue?</a:t>
            </a:r>
            <a:endParaRPr lang="en-US" sz="1030" dirty="0"/>
          </a:p>
        </p:txBody>
      </p:sp>
      <p:sp>
        <p:nvSpPr>
          <p:cNvPr id="47" name="Shape 45"/>
          <p:cNvSpPr/>
          <p:nvPr/>
        </p:nvSpPr>
        <p:spPr>
          <a:xfrm>
            <a:off x="7699248" y="3959352"/>
            <a:ext cx="91440" cy="91440"/>
          </a:xfrm>
          <a:prstGeom prst="roundRect">
            <a:avLst>
              <a:gd name="adj" fmla="val 8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7927848" y="391363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rate highest?</a:t>
            </a:r>
            <a:endParaRPr lang="en-US" sz="1030" dirty="0"/>
          </a:p>
        </p:txBody>
      </p:sp>
      <p:sp>
        <p:nvSpPr>
          <p:cNvPr id="49" name="Shape 47"/>
          <p:cNvSpPr/>
          <p:nvPr/>
        </p:nvSpPr>
        <p:spPr>
          <a:xfrm>
            <a:off x="7699248" y="4270248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27848" y="4224528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 discounts relate to purchases?</a:t>
            </a:r>
            <a:endParaRPr lang="en-US" sz="1030" dirty="0"/>
          </a:p>
        </p:txBody>
      </p:sp>
      <p:sp>
        <p:nvSpPr>
          <p:cNvPr id="51" name="Shape 49"/>
          <p:cNvSpPr/>
          <p:nvPr/>
        </p:nvSpPr>
        <p:spPr>
          <a:xfrm>
            <a:off x="7699248" y="4581144"/>
            <a:ext cx="91440" cy="91440"/>
          </a:xfrm>
          <a:prstGeom prst="roundRect">
            <a:avLst>
              <a:gd name="adj" fmla="val 8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27848" y="4535424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subscribers spend differently?</a:t>
            </a:r>
            <a:endParaRPr lang="en-US" sz="1030" dirty="0"/>
          </a:p>
        </p:txBody>
      </p:sp>
      <p:sp>
        <p:nvSpPr>
          <p:cNvPr id="53" name="Shape 51"/>
          <p:cNvSpPr/>
          <p:nvPr/>
        </p:nvSpPr>
        <p:spPr>
          <a:xfrm>
            <a:off x="7699248" y="4892040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927848" y="4846320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age groups contribute most?</a:t>
            </a:r>
            <a:endParaRPr lang="en-US" sz="1030" dirty="0"/>
          </a:p>
        </p:txBody>
      </p:sp>
      <p:sp>
        <p:nvSpPr>
          <p:cNvPr id="55" name="Text 53"/>
          <p:cNvSpPr txBox="1"/>
          <p:nvPr/>
        </p:nvSpPr>
        <p:spPr>
          <a:xfrm>
            <a:off x="566928" y="587044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Scope: customer segments, product preferences, spending, discounts, shipping and subscriptions.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UNDERSTAND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 structured shopping dataset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contains customer profile, purchase, shopping-behavior and experience fields.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30352" y="1408176"/>
            <a:ext cx="6995160" cy="4517136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4672" y="1664208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DATA DESCRIBES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04672" y="2057400"/>
            <a:ext cx="6364224" cy="658368"/>
          </a:xfrm>
          <a:prstGeom prst="roundRect">
            <a:avLst>
              <a:gd name="adj" fmla="val 11111"/>
            </a:avLst>
          </a:prstGeom>
          <a:solidFill>
            <a:srgbClr val="F8FAFD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0976" y="2203704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2212848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472184" y="2139696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profile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328416" y="214884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Age, gender, location and subscription status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04672" y="2907792"/>
            <a:ext cx="6364224" cy="658368"/>
          </a:xfrm>
          <a:prstGeom prst="roundRect">
            <a:avLst>
              <a:gd name="adj" fmla="val 11111"/>
            </a:avLst>
          </a:prstGeom>
          <a:solidFill>
            <a:srgbClr val="F8FAFD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0976" y="3054096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0976" y="3063240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472184" y="2990088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context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328416" y="2999232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Item, category, amount, season, size and color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804672" y="3758184"/>
            <a:ext cx="6364224" cy="658368"/>
          </a:xfrm>
          <a:prstGeom prst="roundRect">
            <a:avLst>
              <a:gd name="adj" fmla="val 11111"/>
            </a:avLst>
          </a:prstGeom>
          <a:solidFill>
            <a:srgbClr val="F8FAFD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50976" y="3904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3913632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472184" y="3840480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Shopping behavior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3328416" y="3849624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Discounts, previous purchases and purchase frequency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804672" y="4608576"/>
            <a:ext cx="6364224" cy="658368"/>
          </a:xfrm>
          <a:prstGeom prst="roundRect">
            <a:avLst>
              <a:gd name="adj" fmla="val 11111"/>
            </a:avLst>
          </a:prstGeom>
          <a:solidFill>
            <a:srgbClr val="F8FAFD"/>
          </a:solidFill>
          <a:ln w="10160">
            <a:solidFill>
              <a:srgbClr val="E7ECF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50976" y="475488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E35D6A"/>
          </a:solidFill>
          <a:ln w="1270">
            <a:solidFill>
              <a:srgbClr val="E35D6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50976" y="4764024"/>
            <a:ext cx="3657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472184" y="4690872"/>
            <a:ext cx="1856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 &amp; fulfillment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3328416" y="4700016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rating and shipping type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7744968" y="1408176"/>
            <a:ext cx="3922776" cy="4517136"/>
          </a:xfrm>
          <a:prstGeom prst="roundRect">
            <a:avLst>
              <a:gd name="adj" fmla="val 1865"/>
            </a:avLst>
          </a:prstGeom>
          <a:solidFill>
            <a:srgbClr val="12213A"/>
          </a:solidFill>
          <a:ln w="1270">
            <a:solidFill>
              <a:srgbClr val="1221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065008" y="1700784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CHECK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065008" y="219456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C8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480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2962656"/>
            <a:ext cx="2468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119872" y="3255264"/>
            <a:ext cx="2651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C4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Rating column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083296" y="3675888"/>
            <a:ext cx="3182112" cy="0"/>
          </a:xfrm>
          <a:prstGeom prst="line">
            <a:avLst/>
          </a:prstGeom>
          <a:noFill/>
          <a:ln w="10160">
            <a:solidFill>
              <a:srgbClr val="38507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119872" y="3922776"/>
            <a:ext cx="2377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Handling method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8119872" y="4233672"/>
            <a:ext cx="3017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review values were filled using the median rating of each product category.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9872" y="525780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284569"/>
          </a:solidFill>
          <a:ln w="1270">
            <a:solidFill>
              <a:srgbClr val="284569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74736" y="526694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3,900 rows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436608" y="525780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284569"/>
          </a:solidFill>
          <a:ln w="1270">
            <a:solidFill>
              <a:srgbClr val="28456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491472" y="526694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columns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METHOD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workflow across three tools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tool had a defined role: prepare reliable data, query business questions, then communicate findings.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621792" y="1673352"/>
            <a:ext cx="3383280" cy="345643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" y="1673352"/>
            <a:ext cx="3383280" cy="109728"/>
          </a:xfrm>
          <a:prstGeom prst="rect">
            <a:avLst>
              <a:gd name="adj" fmla="val 66667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77824" y="1938528"/>
            <a:ext cx="502920" cy="301752"/>
          </a:xfrm>
          <a:prstGeom prst="roundRect">
            <a:avLst>
              <a:gd name="adj" fmla="val 24242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1947672"/>
            <a:ext cx="393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1536192" y="1947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spc="15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930" dirty="0"/>
          </a:p>
        </p:txBody>
      </p:sp>
      <p:sp>
        <p:nvSpPr>
          <p:cNvPr id="13" name="Text 11"/>
          <p:cNvSpPr txBox="1"/>
          <p:nvPr/>
        </p:nvSpPr>
        <p:spPr>
          <a:xfrm>
            <a:off x="877824" y="243230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Prepare the data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877824" y="2971800"/>
            <a:ext cx="2871216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" y="3209544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06424" y="3136392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with pandas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05256" y="3557016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06424" y="3483864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with df.info() and describe()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05256" y="3904488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106424" y="383133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Impute missing ratings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905256" y="4251960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106424" y="4178808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fields + engineer features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05256" y="4599432"/>
            <a:ext cx="91440" cy="91440"/>
          </a:xfrm>
          <a:prstGeom prst="roundRect">
            <a:avLst>
              <a:gd name="adj" fmla="val 8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106424" y="4526280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cleaned DataFrame into MySQL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4407408" y="1673352"/>
            <a:ext cx="3383280" cy="345643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07408" y="1673352"/>
            <a:ext cx="3383280" cy="109728"/>
          </a:xfrm>
          <a:prstGeom prst="rect">
            <a:avLst>
              <a:gd name="adj" fmla="val 66667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938528"/>
            <a:ext cx="502920" cy="301752"/>
          </a:xfrm>
          <a:prstGeom prst="roundRect">
            <a:avLst>
              <a:gd name="adj" fmla="val 24242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718304" y="1947672"/>
            <a:ext cx="393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5321808" y="1947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spc="15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930" dirty="0"/>
          </a:p>
        </p:txBody>
      </p:sp>
      <p:sp>
        <p:nvSpPr>
          <p:cNvPr id="30" name="Text 28"/>
          <p:cNvSpPr txBox="1"/>
          <p:nvPr/>
        </p:nvSpPr>
        <p:spPr>
          <a:xfrm>
            <a:off x="4663440" y="243230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 business questions</a:t>
            </a:r>
            <a:endParaRPr lang="en-US" sz="1900" dirty="0"/>
          </a:p>
        </p:txBody>
      </p:sp>
      <p:sp>
        <p:nvSpPr>
          <p:cNvPr id="31" name="Shape 29"/>
          <p:cNvSpPr/>
          <p:nvPr/>
        </p:nvSpPr>
        <p:spPr>
          <a:xfrm>
            <a:off x="4663440" y="2971800"/>
            <a:ext cx="2871216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90872" y="3209544"/>
            <a:ext cx="91440" cy="91440"/>
          </a:xfrm>
          <a:prstGeom prst="roundRect">
            <a:avLst>
              <a:gd name="adj" fmla="val 8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92040" y="3136392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gender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4690872" y="3557016"/>
            <a:ext cx="91440" cy="91440"/>
          </a:xfrm>
          <a:prstGeom prst="roundRect">
            <a:avLst>
              <a:gd name="adj" fmla="val 8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892040" y="3483864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spend by shipping type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4690872" y="3904488"/>
            <a:ext cx="91440" cy="91440"/>
          </a:xfrm>
          <a:prstGeom prst="roundRect">
            <a:avLst>
              <a:gd name="adj" fmla="val 8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892040" y="383133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Ratings and discount rates</a:t>
            </a:r>
            <a:endParaRPr lang="en-US" sz="1020" dirty="0"/>
          </a:p>
        </p:txBody>
      </p:sp>
      <p:sp>
        <p:nvSpPr>
          <p:cNvPr id="38" name="Shape 36"/>
          <p:cNvSpPr/>
          <p:nvPr/>
        </p:nvSpPr>
        <p:spPr>
          <a:xfrm>
            <a:off x="4690872" y="4251960"/>
            <a:ext cx="91440" cy="91440"/>
          </a:xfrm>
          <a:prstGeom prst="roundRect">
            <a:avLst>
              <a:gd name="adj" fmla="val 8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892040" y="4178808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segments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4690872" y="4599432"/>
            <a:ext cx="91440" cy="91440"/>
          </a:xfrm>
          <a:prstGeom prst="roundRect">
            <a:avLst>
              <a:gd name="adj" fmla="val 8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892040" y="4526280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and age-group analysis</a:t>
            </a:r>
            <a:endParaRPr lang="en-US" sz="1020" dirty="0"/>
          </a:p>
        </p:txBody>
      </p:sp>
      <p:sp>
        <p:nvSpPr>
          <p:cNvPr id="42" name="Shape 40"/>
          <p:cNvSpPr/>
          <p:nvPr/>
        </p:nvSpPr>
        <p:spPr>
          <a:xfrm>
            <a:off x="8193024" y="1673352"/>
            <a:ext cx="3383280" cy="3456432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93024" y="1673352"/>
            <a:ext cx="3383280" cy="109728"/>
          </a:xfrm>
          <a:prstGeom prst="rect">
            <a:avLst>
              <a:gd name="adj" fmla="val 66667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49056" y="1938528"/>
            <a:ext cx="502920" cy="301752"/>
          </a:xfrm>
          <a:prstGeom prst="roundRect">
            <a:avLst>
              <a:gd name="adj" fmla="val 24242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503920" y="1947672"/>
            <a:ext cx="393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9107424" y="19476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spc="15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930" dirty="0"/>
          </a:p>
        </p:txBody>
      </p:sp>
      <p:sp>
        <p:nvSpPr>
          <p:cNvPr id="47" name="Text 45"/>
          <p:cNvSpPr txBox="1"/>
          <p:nvPr/>
        </p:nvSpPr>
        <p:spPr>
          <a:xfrm>
            <a:off x="8449056" y="2432304"/>
            <a:ext cx="28712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Present insights visually</a:t>
            </a:r>
            <a:endParaRPr lang="en-US" sz="1900" dirty="0"/>
          </a:p>
        </p:txBody>
      </p:sp>
      <p:sp>
        <p:nvSpPr>
          <p:cNvPr id="48" name="Shape 46"/>
          <p:cNvSpPr/>
          <p:nvPr/>
        </p:nvSpPr>
        <p:spPr>
          <a:xfrm>
            <a:off x="8449056" y="2971800"/>
            <a:ext cx="2871216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76488" y="3209544"/>
            <a:ext cx="91440" cy="91440"/>
          </a:xfrm>
          <a:prstGeom prst="roundRect">
            <a:avLst>
              <a:gd name="adj" fmla="val 8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677656" y="3136392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cards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8476488" y="3557016"/>
            <a:ext cx="91440" cy="91440"/>
          </a:xfrm>
          <a:prstGeom prst="roundRect">
            <a:avLst>
              <a:gd name="adj" fmla="val 8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677656" y="3483864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8476488" y="3904488"/>
            <a:ext cx="91440" cy="91440"/>
          </a:xfrm>
          <a:prstGeom prst="roundRect">
            <a:avLst>
              <a:gd name="adj" fmla="val 8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677656" y="3831336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sales by category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8476488" y="4251960"/>
            <a:ext cx="91440" cy="91440"/>
          </a:xfrm>
          <a:prstGeom prst="roundRect">
            <a:avLst>
              <a:gd name="adj" fmla="val 8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8677656" y="4178808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Age-group comparisons</a:t>
            </a:r>
            <a:endParaRPr lang="en-US" sz="1020" dirty="0"/>
          </a:p>
        </p:txBody>
      </p:sp>
      <p:sp>
        <p:nvSpPr>
          <p:cNvPr id="57" name="Shape 55"/>
          <p:cNvSpPr/>
          <p:nvPr/>
        </p:nvSpPr>
        <p:spPr>
          <a:xfrm>
            <a:off x="8476488" y="4599432"/>
            <a:ext cx="91440" cy="91440"/>
          </a:xfrm>
          <a:prstGeom prst="roundRect">
            <a:avLst>
              <a:gd name="adj" fmla="val 8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77656" y="4526280"/>
            <a:ext cx="261518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slicers / filters</a:t>
            </a:r>
            <a:endParaRPr lang="en-US" sz="1020" dirty="0"/>
          </a:p>
        </p:txBody>
      </p:sp>
      <p:sp>
        <p:nvSpPr>
          <p:cNvPr id="59" name="Text 57"/>
          <p:cNvSpPr txBox="1"/>
          <p:nvPr/>
        </p:nvSpPr>
        <p:spPr>
          <a:xfrm>
            <a:off x="4041648" y="3035808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9A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-&gt;</a:t>
            </a:r>
            <a:endParaRPr lang="en-US" sz="2000" dirty="0"/>
          </a:p>
        </p:txBody>
      </p:sp>
      <p:sp>
        <p:nvSpPr>
          <p:cNvPr id="60" name="Text 58"/>
          <p:cNvSpPr txBox="1"/>
          <p:nvPr/>
        </p:nvSpPr>
        <p:spPr>
          <a:xfrm>
            <a:off x="7827264" y="3035808"/>
            <a:ext cx="2926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C9AA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-&gt;</a:t>
            </a:r>
            <a:endParaRPr lang="en-US" sz="2000" dirty="0"/>
          </a:p>
        </p:txBody>
      </p:sp>
      <p:sp>
        <p:nvSpPr>
          <p:cNvPr id="61" name="Shape 59"/>
          <p:cNvSpPr/>
          <p:nvPr/>
        </p:nvSpPr>
        <p:spPr>
          <a:xfrm>
            <a:off x="621792" y="5422392"/>
            <a:ext cx="10954512" cy="512064"/>
          </a:xfrm>
          <a:prstGeom prst="roundRect">
            <a:avLst>
              <a:gd name="adj" fmla="val 14286"/>
            </a:avLst>
          </a:prstGeom>
          <a:solidFill>
            <a:srgbClr val="12213A"/>
          </a:solidFill>
          <a:ln w="1270">
            <a:solidFill>
              <a:srgbClr val="12213A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96112" y="55778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1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CHAIN</a:t>
            </a:r>
            <a:endParaRPr lang="en-US" sz="850" dirty="0"/>
          </a:p>
        </p:txBody>
      </p:sp>
      <p:sp>
        <p:nvSpPr>
          <p:cNvPr id="63" name="Text 61"/>
          <p:cNvSpPr txBox="1"/>
          <p:nvPr/>
        </p:nvSpPr>
        <p:spPr>
          <a:xfrm>
            <a:off x="2231136" y="55321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DataFrame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4233672" y="55229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300" dirty="0"/>
          </a:p>
        </p:txBody>
      </p:sp>
      <p:sp>
        <p:nvSpPr>
          <p:cNvPr id="65" name="Text 63"/>
          <p:cNvSpPr txBox="1"/>
          <p:nvPr/>
        </p:nvSpPr>
        <p:spPr>
          <a:xfrm>
            <a:off x="4681728" y="5532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 analysis table</a:t>
            </a:r>
            <a:endParaRPr lang="en-US" sz="1200" dirty="0"/>
          </a:p>
        </p:txBody>
      </p:sp>
      <p:sp>
        <p:nvSpPr>
          <p:cNvPr id="66" name="Text 64"/>
          <p:cNvSpPr txBox="1"/>
          <p:nvPr/>
        </p:nvSpPr>
        <p:spPr>
          <a:xfrm>
            <a:off x="6793992" y="5522976"/>
            <a:ext cx="411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C8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-&gt;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7251192" y="5532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PYTHON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Python: clean, standardize and enrich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was used to prepare the transaction data before it was loaded to MySQL.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5413248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61848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49808" y="16276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344168" y="156362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&amp; inspect</a:t>
            </a:r>
            <a:endParaRPr lang="en-US" sz="1330" dirty="0"/>
          </a:p>
        </p:txBody>
      </p:sp>
      <p:sp>
        <p:nvSpPr>
          <p:cNvPr id="12" name="Text 10"/>
          <p:cNvSpPr txBox="1"/>
          <p:nvPr/>
        </p:nvSpPr>
        <p:spPr>
          <a:xfrm>
            <a:off x="1344168" y="1856232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dataset with pandas. Used df.info() to inspect structure and describe() for summary statistics.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6199632" y="1417320"/>
            <a:ext cx="5413248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82512" y="1618488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82512" y="1627632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976872" y="1563624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missing ratings</a:t>
            </a:r>
            <a:endParaRPr lang="en-US" sz="1330" dirty="0"/>
          </a:p>
        </p:txBody>
      </p:sp>
      <p:sp>
        <p:nvSpPr>
          <p:cNvPr id="17" name="Text 15"/>
          <p:cNvSpPr txBox="1"/>
          <p:nvPr/>
        </p:nvSpPr>
        <p:spPr>
          <a:xfrm>
            <a:off x="6976872" y="1856232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Filled the 37 missing Review Rating values with the median rating for the relevant product category.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66928" y="2724912"/>
            <a:ext cx="5413248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29260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2935224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1344168" y="2871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columns</a:t>
            </a:r>
            <a:endParaRPr lang="en-US" sz="1330" dirty="0"/>
          </a:p>
        </p:txBody>
      </p:sp>
      <p:sp>
        <p:nvSpPr>
          <p:cNvPr id="22" name="Text 20"/>
          <p:cNvSpPr txBox="1"/>
          <p:nvPr/>
        </p:nvSpPr>
        <p:spPr>
          <a:xfrm>
            <a:off x="1344168" y="3163824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Renamed column labels to snake_case for consistent querying and documentation.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6199632" y="2724912"/>
            <a:ext cx="5413248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82512" y="2926080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E35D6A"/>
          </a:solidFill>
          <a:ln w="1270">
            <a:solidFill>
              <a:srgbClr val="E35D6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382512" y="2935224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6976872" y="2871216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features</a:t>
            </a:r>
            <a:endParaRPr lang="en-US" sz="1330" dirty="0"/>
          </a:p>
        </p:txBody>
      </p:sp>
      <p:sp>
        <p:nvSpPr>
          <p:cNvPr id="27" name="Text 25"/>
          <p:cNvSpPr txBox="1"/>
          <p:nvPr/>
        </p:nvSpPr>
        <p:spPr>
          <a:xfrm>
            <a:off x="6976872" y="3163824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age_group from customer ages and purchase_frequency_days from purchase data.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566928" y="4032504"/>
            <a:ext cx="5413248" cy="1069848"/>
          </a:xfrm>
          <a:prstGeom prst="roundRect">
            <a:avLst>
              <a:gd name="adj" fmla="val 6838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9808" y="4233672"/>
            <a:ext cx="420624" cy="420624"/>
          </a:xfrm>
          <a:prstGeom prst="roundRect">
            <a:avLst>
              <a:gd name="adj" fmla="val 17391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49808" y="4242816"/>
            <a:ext cx="42062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1344168" y="4178808"/>
            <a:ext cx="4407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redundancy &amp; load</a:t>
            </a:r>
            <a:endParaRPr lang="en-US" sz="1330" dirty="0"/>
          </a:p>
        </p:txBody>
      </p:sp>
      <p:sp>
        <p:nvSpPr>
          <p:cNvPr id="32" name="Text 30"/>
          <p:cNvSpPr txBox="1"/>
          <p:nvPr/>
        </p:nvSpPr>
        <p:spPr>
          <a:xfrm>
            <a:off x="1344168" y="4471416"/>
            <a:ext cx="4407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Checked discount_applied against promo_code_used, dropped the redundant promo_code_used field, then loaded the cleaned DataFrame to MySQL.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566928" y="5404104"/>
            <a:ext cx="11045952" cy="676656"/>
          </a:xfrm>
          <a:prstGeom prst="roundRect">
            <a:avLst>
              <a:gd name="adj" fmla="val 10811"/>
            </a:avLst>
          </a:prstGeom>
          <a:solidFill>
            <a:srgbClr val="12213A"/>
          </a:solidFill>
          <a:ln w="1270">
            <a:solidFill>
              <a:srgbClr val="12213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32104" y="561441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8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HANDOFF</a:t>
            </a:r>
            <a:endParaRPr lang="en-US" sz="860" dirty="0"/>
          </a:p>
        </p:txBody>
      </p:sp>
      <p:sp>
        <p:nvSpPr>
          <p:cNvPr id="35" name="Text 33"/>
          <p:cNvSpPr txBox="1"/>
          <p:nvPr/>
        </p:nvSpPr>
        <p:spPr>
          <a:xfrm>
            <a:off x="2404872" y="5559552"/>
            <a:ext cx="8778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cleaned pandas DataFrame was written into MySQL for the SQL business analysis phase.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SQL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SQL turned the dataset into business questions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 analysis tasks explored revenue, products, behavior and customer segments in MySQL.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389888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5453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" y="1554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" y="14904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gender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133856" y="1746504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total revenue from male and female customers.</a:t>
            </a:r>
            <a:endParaRPr lang="en-US" sz="970" dirty="0"/>
          </a:p>
        </p:txBody>
      </p:sp>
      <p:sp>
        <p:nvSpPr>
          <p:cNvPr id="13" name="Shape 11"/>
          <p:cNvSpPr/>
          <p:nvPr/>
        </p:nvSpPr>
        <p:spPr>
          <a:xfrm>
            <a:off x="566928" y="2249424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" y="2404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4944" y="24140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350008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High-spending discount users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2606040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discount users spending above the average purchase amount.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566928" y="3108960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4944" y="32644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" y="32735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133856" y="320954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products by rating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3465576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the five products with the highest average review ratings.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66928" y="3968496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4944" y="412394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4944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33856" y="406908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Shipping type comparison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" y="4325112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average purchase amounts for Express and Standard shipping.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566928" y="4828032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4944" y="4983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94944" y="49926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133856" y="492861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 comparison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1133856" y="5184648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customer counts, average spend and total revenue by subscription status.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217920" y="1389888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45936" y="15453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45936" y="1554480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784848" y="1490472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Discount-dependent products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6784848" y="1746504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products with the highest percentage of discounted purchases.</a:t>
            </a:r>
            <a:endParaRPr lang="en-US" sz="970" dirty="0"/>
          </a:p>
        </p:txBody>
      </p:sp>
      <p:sp>
        <p:nvSpPr>
          <p:cNvPr id="38" name="Shape 36"/>
          <p:cNvSpPr/>
          <p:nvPr/>
        </p:nvSpPr>
        <p:spPr>
          <a:xfrm>
            <a:off x="6217920" y="2249424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45936" y="2404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345936" y="241401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784848" y="2350008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segmentation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784848" y="2606040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 customers as New, Returning and Loyal using purchase history.</a:t>
            </a:r>
            <a:endParaRPr lang="en-US" sz="970" dirty="0"/>
          </a:p>
        </p:txBody>
      </p:sp>
      <p:sp>
        <p:nvSpPr>
          <p:cNvPr id="43" name="Shape 41"/>
          <p:cNvSpPr/>
          <p:nvPr/>
        </p:nvSpPr>
        <p:spPr>
          <a:xfrm>
            <a:off x="6217920" y="3108960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45936" y="32644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345936" y="3273552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6784848" y="3209544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products by category</a:t>
            </a:r>
            <a:endParaRPr lang="en-US" sz="1250" dirty="0"/>
          </a:p>
        </p:txBody>
      </p:sp>
      <p:sp>
        <p:nvSpPr>
          <p:cNvPr id="47" name="Text 45"/>
          <p:cNvSpPr txBox="1"/>
          <p:nvPr/>
        </p:nvSpPr>
        <p:spPr>
          <a:xfrm>
            <a:off x="6784848" y="3465576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 the most purchased products within each product category.</a:t>
            </a:r>
            <a:endParaRPr lang="en-US" sz="970" dirty="0"/>
          </a:p>
        </p:txBody>
      </p:sp>
      <p:sp>
        <p:nvSpPr>
          <p:cNvPr id="48" name="Shape 46"/>
          <p:cNvSpPr/>
          <p:nvPr/>
        </p:nvSpPr>
        <p:spPr>
          <a:xfrm>
            <a:off x="6217920" y="3968496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45936" y="412394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345936" y="4133088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51" name="Text 49"/>
          <p:cNvSpPr txBox="1"/>
          <p:nvPr/>
        </p:nvSpPr>
        <p:spPr>
          <a:xfrm>
            <a:off x="6784848" y="4069080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buyers &amp; subscriptions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6784848" y="4325112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subscription status for customers with more than five purchases.</a:t>
            </a:r>
            <a:endParaRPr lang="en-US" sz="970" dirty="0"/>
          </a:p>
        </p:txBody>
      </p:sp>
      <p:sp>
        <p:nvSpPr>
          <p:cNvPr id="53" name="Shape 51"/>
          <p:cNvSpPr/>
          <p:nvPr/>
        </p:nvSpPr>
        <p:spPr>
          <a:xfrm>
            <a:off x="6217920" y="4828032"/>
            <a:ext cx="5404104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45936" y="49834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345936" y="4992624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784848" y="4928616"/>
            <a:ext cx="4690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age group</a:t>
            </a:r>
            <a:endParaRPr lang="en-US" sz="1250" dirty="0"/>
          </a:p>
        </p:txBody>
      </p:sp>
      <p:sp>
        <p:nvSpPr>
          <p:cNvPr id="57" name="Text 55"/>
          <p:cNvSpPr txBox="1"/>
          <p:nvPr/>
        </p:nvSpPr>
        <p:spPr>
          <a:xfrm>
            <a:off x="6784848" y="5184648"/>
            <a:ext cx="4690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Calculate the revenue contribution of each age group.</a:t>
            </a:r>
            <a:endParaRPr lang="en-US" sz="970" dirty="0"/>
          </a:p>
        </p:txBody>
      </p:sp>
      <p:sp>
        <p:nvSpPr>
          <p:cNvPr id="58" name="Shape 56"/>
          <p:cNvSpPr/>
          <p:nvPr/>
        </p:nvSpPr>
        <p:spPr>
          <a:xfrm>
            <a:off x="640080" y="5852160"/>
            <a:ext cx="2011680" cy="292608"/>
          </a:xfrm>
          <a:prstGeom prst="roundRect">
            <a:avLst>
              <a:gd name="adj" fmla="val 25000"/>
            </a:avLst>
          </a:prstGeom>
          <a:solidFill>
            <a:srgbClr val="D9F6F1"/>
          </a:solidFill>
          <a:ln w="1270">
            <a:solidFill>
              <a:srgbClr val="D9F6F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94944" y="5861304"/>
            <a:ext cx="1901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6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BUSINESS-FOCUSED SQL</a:t>
            </a:r>
            <a:endParaRPr lang="en-US" sz="900" dirty="0"/>
          </a:p>
        </p:txBody>
      </p:sp>
      <p:sp>
        <p:nvSpPr>
          <p:cNvPr id="60" name="Text 58"/>
          <p:cNvSpPr txBox="1"/>
          <p:nvPr/>
        </p:nvSpPr>
        <p:spPr>
          <a:xfrm>
            <a:off x="2816352" y="587044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queries were selected to support decisions, not just demonstrate syntax.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FINDINGS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and average purchase value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SQL outputs show differences in total revenue by gender and average purchase amount by shipping type.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399032"/>
            <a:ext cx="2212848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399032"/>
            <a:ext cx="64008" cy="1097280"/>
          </a:xfrm>
          <a:prstGeom prst="rect">
            <a:avLst>
              <a:gd name="adj" fmla="val 114286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52704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PURCHASE</a:t>
            </a:r>
            <a:endParaRPr lang="en-US" sz="83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174650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$59.76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221284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KPI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6928" y="2706624"/>
            <a:ext cx="5522976" cy="3145536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" y="2944368"/>
            <a:ext cx="43891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 BY GENDER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" y="32461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8C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(USD)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850392" y="3730752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874520" y="3790188"/>
            <a:ext cx="2770632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3790188"/>
            <a:ext cx="2430306" cy="128016"/>
          </a:xfrm>
          <a:prstGeom prst="roundRect">
            <a:avLst>
              <a:gd name="adj" fmla="val 5714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00016" y="3726180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$157,890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50392" y="4526280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Female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874520" y="4585716"/>
            <a:ext cx="2770632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74520" y="4585716"/>
            <a:ext cx="1157370" cy="128016"/>
          </a:xfrm>
          <a:prstGeom prst="roundRect">
            <a:avLst>
              <a:gd name="adj" fmla="val 57143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0016" y="4521708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$75,191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850392" y="52852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30" i="1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Male revenue is higher in the reported totals; totals alone do not describe per-customer value.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6291072" y="1399032"/>
            <a:ext cx="5321808" cy="4453128"/>
          </a:xfrm>
          <a:prstGeom prst="roundRect">
            <a:avLst>
              <a:gd name="adj" fmla="val 1643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65392" y="1673352"/>
            <a:ext cx="4572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PURCHASE BY SHIPPING TYPE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565392" y="1984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8C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purchase amount (USD)</a:t>
            </a:r>
            <a:endParaRPr lang="en-US" sz="930" dirty="0"/>
          </a:p>
        </p:txBody>
      </p:sp>
      <p:sp>
        <p:nvSpPr>
          <p:cNvPr id="28" name="Text 26"/>
          <p:cNvSpPr txBox="1"/>
          <p:nvPr/>
        </p:nvSpPr>
        <p:spPr>
          <a:xfrm>
            <a:off x="6583680" y="253288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818120" y="2592324"/>
            <a:ext cx="2505456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2592324"/>
            <a:ext cx="2164714" cy="128016"/>
          </a:xfrm>
          <a:prstGeom prst="roundRect">
            <a:avLst>
              <a:gd name="adj" fmla="val 5714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378440" y="2528316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$60.48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324612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818120" y="3305556"/>
            <a:ext cx="2505456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818120" y="3305556"/>
            <a:ext cx="2092414" cy="128016"/>
          </a:xfrm>
          <a:prstGeom prst="roundRect">
            <a:avLst>
              <a:gd name="adj" fmla="val 57143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378440" y="3241548"/>
            <a:ext cx="8046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$58.46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65392" y="3950208"/>
            <a:ext cx="4700016" cy="1325880"/>
          </a:xfrm>
          <a:prstGeom prst="roundRect">
            <a:avLst>
              <a:gd name="adj" fmla="val 5517"/>
            </a:avLst>
          </a:prstGeom>
          <a:solidFill>
            <a:srgbClr val="F0FAF8"/>
          </a:solidFill>
          <a:ln w="10160">
            <a:solidFill>
              <a:srgbClr val="D0F0E9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812280" y="4169664"/>
            <a:ext cx="1417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2887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+$2.02</a:t>
            </a:r>
            <a:endParaRPr lang="en-US" sz="28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123944"/>
            <a:ext cx="26700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 average purchase amount is $2.02 above Standard in the query output.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6583680" y="5468112"/>
            <a:ext cx="46817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is descriptive; the source does not establish causation.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FINDINGS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ratings and discount dependence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Top-rated items and products most frequently associated with discounts are separate signals to review.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417320"/>
            <a:ext cx="5413248" cy="4544568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" y="1682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5 PRODUCTS BY AVERAGE RATING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029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2231136" y="2029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rating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841248" y="24140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Gloves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12848" y="2464308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2848" y="2464308"/>
            <a:ext cx="1920094" cy="155448"/>
          </a:xfrm>
          <a:prstGeom prst="roundRect">
            <a:avLst>
              <a:gd name="adj" fmla="val 47059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2404872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3.86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841248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Sandals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12848" y="3067812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12848" y="3067812"/>
            <a:ext cx="1910145" cy="155448"/>
          </a:xfrm>
          <a:prstGeom prst="roundRect">
            <a:avLst>
              <a:gd name="adj" fmla="val 47059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28032" y="3008376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3.84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36210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12848" y="3671316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12848" y="3671316"/>
            <a:ext cx="1900196" cy="155448"/>
          </a:xfrm>
          <a:prstGeom prst="roundRect">
            <a:avLst>
              <a:gd name="adj" fmla="val 47059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828032" y="3611880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3.82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841248" y="4224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12848" y="4274820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12848" y="4274820"/>
            <a:ext cx="1890248" cy="155448"/>
          </a:xfrm>
          <a:prstGeom prst="roundRect">
            <a:avLst>
              <a:gd name="adj" fmla="val 47059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828032" y="4215384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3.80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Skirt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12848" y="4878324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12848" y="4878324"/>
            <a:ext cx="1880299" cy="155448"/>
          </a:xfrm>
          <a:prstGeom prst="roundRect">
            <a:avLst>
              <a:gd name="adj" fmla="val 47059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828032" y="4818888"/>
            <a:ext cx="6766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3.78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50392" y="5522976"/>
            <a:ext cx="1956816" cy="274320"/>
          </a:xfrm>
          <a:prstGeom prst="roundRect">
            <a:avLst>
              <a:gd name="adj" fmla="val 26667"/>
            </a:avLst>
          </a:prstGeom>
          <a:solidFill>
            <a:srgbClr val="D9F6F1"/>
          </a:solidFill>
          <a:ln w="1270">
            <a:solidFill>
              <a:srgbClr val="D9F6F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5256" y="5532120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6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RATING LEADER: GLOVES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217920" y="1417320"/>
            <a:ext cx="5394960" cy="4544568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83096" y="168249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PRODUCTS BY DISCOUNT RATE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492240" y="20299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818120" y="20299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C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rate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492240" y="241401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18120" y="2464308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818120" y="2464308"/>
            <a:ext cx="2261062" cy="155448"/>
          </a:xfrm>
          <a:prstGeom prst="roundRect">
            <a:avLst>
              <a:gd name="adj" fmla="val 47059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442448" y="240487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50.00%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492240" y="3017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Sneakers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818120" y="3067812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3067812"/>
            <a:ext cx="2245687" cy="155448"/>
          </a:xfrm>
          <a:prstGeom prst="roundRect">
            <a:avLst>
              <a:gd name="adj" fmla="val 47059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442448" y="3008376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49.66%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6492240" y="36210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Coat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818120" y="3671316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18120" y="3671316"/>
            <a:ext cx="2219006" cy="155448"/>
          </a:xfrm>
          <a:prstGeom prst="roundRect">
            <a:avLst>
              <a:gd name="adj" fmla="val 47059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10442448" y="3611880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49.07%</a:t>
            </a:r>
            <a:endParaRPr lang="en-US" sz="1150" dirty="0"/>
          </a:p>
        </p:txBody>
      </p:sp>
      <p:sp>
        <p:nvSpPr>
          <p:cNvPr id="50" name="Text 48"/>
          <p:cNvSpPr txBox="1"/>
          <p:nvPr/>
        </p:nvSpPr>
        <p:spPr>
          <a:xfrm>
            <a:off x="6492240" y="422452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Sweater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818120" y="4274820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818120" y="4274820"/>
            <a:ext cx="2178307" cy="155448"/>
          </a:xfrm>
          <a:prstGeom prst="roundRect">
            <a:avLst>
              <a:gd name="adj" fmla="val 47059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10442448" y="4215384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48.17%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6492240" y="48280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Pants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818120" y="4878324"/>
            <a:ext cx="2487168" cy="155448"/>
          </a:xfrm>
          <a:prstGeom prst="roundRect">
            <a:avLst>
              <a:gd name="adj" fmla="val 47059"/>
            </a:avLst>
          </a:prstGeom>
          <a:solidFill>
            <a:srgbClr val="E8EDF4"/>
          </a:solidFill>
          <a:ln w="1270">
            <a:solidFill>
              <a:srgbClr val="E8EDF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818120" y="4878324"/>
            <a:ext cx="2142130" cy="155448"/>
          </a:xfrm>
          <a:prstGeom prst="roundRect">
            <a:avLst>
              <a:gd name="adj" fmla="val 47059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10442448" y="4818888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47.37%</a:t>
            </a:r>
            <a:endParaRPr lang="en-US" sz="1150" dirty="0"/>
          </a:p>
        </p:txBody>
      </p:sp>
      <p:sp>
        <p:nvSpPr>
          <p:cNvPr id="58" name="Shape 56"/>
          <p:cNvSpPr/>
          <p:nvPr/>
        </p:nvSpPr>
        <p:spPr>
          <a:xfrm>
            <a:off x="6492240" y="5522976"/>
            <a:ext cx="2167128" cy="274320"/>
          </a:xfrm>
          <a:prstGeom prst="roundRect">
            <a:avLst>
              <a:gd name="adj" fmla="val 26667"/>
            </a:avLst>
          </a:prstGeom>
          <a:solidFill>
            <a:srgbClr val="FFF2C9"/>
          </a:solidFill>
          <a:ln w="1270">
            <a:solidFill>
              <a:srgbClr val="FFF2C9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6547104" y="553212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8D6B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RATE LEADER: HAT</a:t>
            </a:r>
            <a:endParaRPr lang="en-US" sz="87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FINDINGS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segments and subscription behavior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Segmentation highlighted a large Loyal group; the subscription split shows room to test conversion strategies.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408176"/>
            <a:ext cx="5230368" cy="2962656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32104" y="166420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SEGMENTS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1945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075688" y="2253996"/>
            <a:ext cx="2578608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75688" y="2253996"/>
            <a:ext cx="2434831" cy="128016"/>
          </a:xfrm>
          <a:prstGeom prst="roundRect">
            <a:avLst>
              <a:gd name="adj" fmla="val 5714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2189988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3,116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87121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Returning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075688" y="2930652"/>
            <a:ext cx="2578608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075688" y="2930652"/>
            <a:ext cx="547759" cy="128016"/>
          </a:xfrm>
          <a:prstGeom prst="roundRect">
            <a:avLst>
              <a:gd name="adj" fmla="val 57143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09160" y="2866644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701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41248" y="35478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075688" y="3607308"/>
            <a:ext cx="2578608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75688" y="3607308"/>
            <a:ext cx="64856" cy="128016"/>
          </a:xfrm>
          <a:prstGeom prst="roundRect">
            <a:avLst>
              <a:gd name="adj" fmla="val 112791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709160" y="3543300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4087368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i="1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Segments were assigned from purchase history.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6053328" y="1408176"/>
            <a:ext cx="5559552" cy="2962656"/>
          </a:xfrm>
          <a:prstGeom prst="roundRect">
            <a:avLst>
              <a:gd name="adj" fmla="val 2469"/>
            </a:avLst>
          </a:prstGeom>
          <a:solidFill>
            <a:srgbClr val="12213A"/>
          </a:solidFill>
          <a:ln w="1270">
            <a:solidFill>
              <a:srgbClr val="12213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27648" y="1664208"/>
            <a:ext cx="4846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 VS. NON-SUBSCRIBERS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364224" y="202996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AAB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920" dirty="0"/>
          </a:p>
        </p:txBody>
      </p:sp>
      <p:sp>
        <p:nvSpPr>
          <p:cNvPr id="26" name="Text 24"/>
          <p:cNvSpPr txBox="1"/>
          <p:nvPr/>
        </p:nvSpPr>
        <p:spPr>
          <a:xfrm>
            <a:off x="8257032" y="20299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AAB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</a:t>
            </a:r>
            <a:endParaRPr lang="en-US" sz="920" dirty="0"/>
          </a:p>
        </p:txBody>
      </p:sp>
      <p:sp>
        <p:nvSpPr>
          <p:cNvPr id="27" name="Text 25"/>
          <p:cNvSpPr txBox="1"/>
          <p:nvPr/>
        </p:nvSpPr>
        <p:spPr>
          <a:xfrm>
            <a:off x="10222992" y="202996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dirty="0">
                <a:solidFill>
                  <a:srgbClr val="AAB8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</a:t>
            </a:r>
            <a:endParaRPr lang="en-US" sz="920" dirty="0"/>
          </a:p>
        </p:txBody>
      </p:sp>
      <p:sp>
        <p:nvSpPr>
          <p:cNvPr id="28" name="Shape 26"/>
          <p:cNvSpPr/>
          <p:nvPr/>
        </p:nvSpPr>
        <p:spPr>
          <a:xfrm>
            <a:off x="6345936" y="2295144"/>
            <a:ext cx="4892040" cy="0"/>
          </a:xfrm>
          <a:prstGeom prst="line">
            <a:avLst/>
          </a:prstGeom>
          <a:noFill/>
          <a:ln w="10160">
            <a:solidFill>
              <a:srgbClr val="40577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64224" y="2487168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</a:t>
            </a:r>
            <a:endParaRPr lang="en-US" sz="1040" dirty="0"/>
          </a:p>
        </p:txBody>
      </p:sp>
      <p:sp>
        <p:nvSpPr>
          <p:cNvPr id="30" name="Text 28"/>
          <p:cNvSpPr txBox="1"/>
          <p:nvPr/>
        </p:nvSpPr>
        <p:spPr>
          <a:xfrm>
            <a:off x="8119872" y="2487168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1,053</a:t>
            </a:r>
            <a:endParaRPr lang="en-US" sz="1080" dirty="0"/>
          </a:p>
        </p:txBody>
      </p:sp>
      <p:sp>
        <p:nvSpPr>
          <p:cNvPr id="31" name="Text 29"/>
          <p:cNvSpPr txBox="1"/>
          <p:nvPr/>
        </p:nvSpPr>
        <p:spPr>
          <a:xfrm>
            <a:off x="10040112" y="2487168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2,847</a:t>
            </a:r>
            <a:endParaRPr lang="en-US" sz="1080" dirty="0"/>
          </a:p>
        </p:txBody>
      </p:sp>
      <p:sp>
        <p:nvSpPr>
          <p:cNvPr id="32" name="Text 30"/>
          <p:cNvSpPr txBox="1"/>
          <p:nvPr/>
        </p:nvSpPr>
        <p:spPr>
          <a:xfrm>
            <a:off x="6364224" y="2926080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spend</a:t>
            </a:r>
            <a:endParaRPr lang="en-US" sz="1040" dirty="0"/>
          </a:p>
        </p:txBody>
      </p:sp>
      <p:sp>
        <p:nvSpPr>
          <p:cNvPr id="33" name="Text 31"/>
          <p:cNvSpPr txBox="1"/>
          <p:nvPr/>
        </p:nvSpPr>
        <p:spPr>
          <a:xfrm>
            <a:off x="8119872" y="2926080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$59.49</a:t>
            </a:r>
            <a:endParaRPr lang="en-US" sz="1080" dirty="0"/>
          </a:p>
        </p:txBody>
      </p:sp>
      <p:sp>
        <p:nvSpPr>
          <p:cNvPr id="34" name="Text 32"/>
          <p:cNvSpPr txBox="1"/>
          <p:nvPr/>
        </p:nvSpPr>
        <p:spPr>
          <a:xfrm>
            <a:off x="10040112" y="2926080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$59.87</a:t>
            </a:r>
            <a:endParaRPr lang="en-US" sz="108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3364992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</a:t>
            </a:r>
            <a:endParaRPr lang="en-US" sz="1040" dirty="0"/>
          </a:p>
        </p:txBody>
      </p:sp>
      <p:sp>
        <p:nvSpPr>
          <p:cNvPr id="36" name="Text 34"/>
          <p:cNvSpPr txBox="1"/>
          <p:nvPr/>
        </p:nvSpPr>
        <p:spPr>
          <a:xfrm>
            <a:off x="8119872" y="336499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$62,645</a:t>
            </a:r>
            <a:endParaRPr lang="en-US" sz="1080" dirty="0"/>
          </a:p>
        </p:txBody>
      </p:sp>
      <p:sp>
        <p:nvSpPr>
          <p:cNvPr id="37" name="Text 35"/>
          <p:cNvSpPr txBox="1"/>
          <p:nvPr/>
        </p:nvSpPr>
        <p:spPr>
          <a:xfrm>
            <a:off x="10040112" y="336499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$170,436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566928" y="4626864"/>
            <a:ext cx="1104595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32104" y="4855464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7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BUYERS: MORE THAN 5 PURCHASES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32104" y="5230368"/>
            <a:ext cx="3090672" cy="384048"/>
          </a:xfrm>
          <a:prstGeom prst="roundRect">
            <a:avLst>
              <a:gd name="adj" fmla="val 19048"/>
            </a:avLst>
          </a:prstGeom>
          <a:solidFill>
            <a:srgbClr val="F0FAF8"/>
          </a:solidFill>
          <a:ln w="10160">
            <a:solidFill>
              <a:srgbClr val="D0F0E9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87552" y="531266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Subscribers: 958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105656" y="5230368"/>
            <a:ext cx="3474720" cy="384048"/>
          </a:xfrm>
          <a:prstGeom prst="roundRect">
            <a:avLst>
              <a:gd name="adj" fmla="val 19048"/>
            </a:avLst>
          </a:prstGeom>
          <a:solidFill>
            <a:srgbClr val="EEF3FD"/>
          </a:solidFill>
          <a:ln w="10160">
            <a:solidFill>
              <a:srgbClr val="D8E2F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279392" y="531266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15C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Non-subscribers: 2,518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7845552" y="5084064"/>
            <a:ext cx="3447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 the groups are different sizes, compare within-group rates before concluding which group is more likely to subscribe.</a:t>
            </a:r>
            <a:endParaRPr lang="en-US" sz="96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FINDINGS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Best-selling items and age-group revenue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SQL output identifies category leaders and shows Young Adults contributing the most revenue among the age groups shown.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408176"/>
            <a:ext cx="6016752" cy="4544568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1664208"/>
            <a:ext cx="5440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6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PURCHASED PRODUCTS BY CATEGORY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32104" y="2048256"/>
            <a:ext cx="5468112" cy="338328"/>
          </a:xfrm>
          <a:prstGeom prst="rect">
            <a:avLst>
              <a:gd name="adj" fmla="val 21622"/>
            </a:avLst>
          </a:prstGeom>
          <a:solidFill>
            <a:srgbClr val="12213A"/>
          </a:solidFill>
          <a:ln w="1270">
            <a:solidFill>
              <a:srgbClr val="1221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" y="2103120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2221992" y="21031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item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4562856" y="21031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32104" y="2386584"/>
            <a:ext cx="5468112" cy="274320"/>
          </a:xfrm>
          <a:prstGeom prst="rect">
            <a:avLst>
              <a:gd name="adj" fmla="val 26667"/>
            </a:avLst>
          </a:prstGeom>
          <a:solidFill>
            <a:srgbClr val="F2F5FA"/>
          </a:solidFill>
          <a:ln w="1270">
            <a:solidFill>
              <a:srgbClr val="F2F5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3544" y="241858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930" dirty="0"/>
          </a:p>
        </p:txBody>
      </p:sp>
      <p:sp>
        <p:nvSpPr>
          <p:cNvPr id="16" name="Text 14"/>
          <p:cNvSpPr txBox="1"/>
          <p:nvPr/>
        </p:nvSpPr>
        <p:spPr>
          <a:xfrm>
            <a:off x="2221992" y="24185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Jewelry</a:t>
            </a:r>
            <a:endParaRPr lang="en-US" sz="930" dirty="0"/>
          </a:p>
        </p:txBody>
      </p:sp>
      <p:sp>
        <p:nvSpPr>
          <p:cNvPr id="17" name="Text 15"/>
          <p:cNvSpPr txBox="1"/>
          <p:nvPr/>
        </p:nvSpPr>
        <p:spPr>
          <a:xfrm>
            <a:off x="4562856" y="24185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</a:t>
            </a:r>
            <a:endParaRPr lang="en-US" sz="930" dirty="0"/>
          </a:p>
        </p:txBody>
      </p:sp>
      <p:sp>
        <p:nvSpPr>
          <p:cNvPr id="18" name="Text 16"/>
          <p:cNvSpPr txBox="1"/>
          <p:nvPr/>
        </p:nvSpPr>
        <p:spPr>
          <a:xfrm>
            <a:off x="923544" y="26929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930" dirty="0"/>
          </a:p>
        </p:txBody>
      </p:sp>
      <p:sp>
        <p:nvSpPr>
          <p:cNvPr id="19" name="Text 17"/>
          <p:cNvSpPr txBox="1"/>
          <p:nvPr/>
        </p:nvSpPr>
        <p:spPr>
          <a:xfrm>
            <a:off x="2221992" y="26929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Sunglasses</a:t>
            </a:r>
            <a:endParaRPr lang="en-US" sz="930" dirty="0"/>
          </a:p>
        </p:txBody>
      </p:sp>
      <p:sp>
        <p:nvSpPr>
          <p:cNvPr id="20" name="Text 18"/>
          <p:cNvSpPr txBox="1"/>
          <p:nvPr/>
        </p:nvSpPr>
        <p:spPr>
          <a:xfrm>
            <a:off x="4562856" y="26929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832104" y="2935224"/>
            <a:ext cx="5468112" cy="274320"/>
          </a:xfrm>
          <a:prstGeom prst="rect">
            <a:avLst>
              <a:gd name="adj" fmla="val 26667"/>
            </a:avLst>
          </a:prstGeom>
          <a:solidFill>
            <a:srgbClr val="F2F5FA"/>
          </a:solidFill>
          <a:ln w="1270">
            <a:solidFill>
              <a:srgbClr val="F2F5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23544" y="29672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Accessories</a:t>
            </a:r>
            <a:endParaRPr lang="en-US" sz="930" dirty="0"/>
          </a:p>
        </p:txBody>
      </p:sp>
      <p:sp>
        <p:nvSpPr>
          <p:cNvPr id="23" name="Text 21"/>
          <p:cNvSpPr txBox="1"/>
          <p:nvPr/>
        </p:nvSpPr>
        <p:spPr>
          <a:xfrm>
            <a:off x="2221992" y="29672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Belt</a:t>
            </a:r>
            <a:endParaRPr lang="en-US" sz="930" dirty="0"/>
          </a:p>
        </p:txBody>
      </p:sp>
      <p:sp>
        <p:nvSpPr>
          <p:cNvPr id="24" name="Text 22"/>
          <p:cNvSpPr txBox="1"/>
          <p:nvPr/>
        </p:nvSpPr>
        <p:spPr>
          <a:xfrm>
            <a:off x="4562856" y="29672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</a:t>
            </a:r>
            <a:endParaRPr lang="en-US" sz="930" dirty="0"/>
          </a:p>
        </p:txBody>
      </p:sp>
      <p:sp>
        <p:nvSpPr>
          <p:cNvPr id="25" name="Text 23"/>
          <p:cNvSpPr txBox="1"/>
          <p:nvPr/>
        </p:nvSpPr>
        <p:spPr>
          <a:xfrm>
            <a:off x="923544" y="324154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Clothing</a:t>
            </a:r>
            <a:endParaRPr lang="en-US" sz="930" dirty="0"/>
          </a:p>
        </p:txBody>
      </p:sp>
      <p:sp>
        <p:nvSpPr>
          <p:cNvPr id="26" name="Text 24"/>
          <p:cNvSpPr txBox="1"/>
          <p:nvPr/>
        </p:nvSpPr>
        <p:spPr>
          <a:xfrm>
            <a:off x="2221992" y="32415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Blouse</a:t>
            </a:r>
            <a:endParaRPr lang="en-US" sz="930" dirty="0"/>
          </a:p>
        </p:txBody>
      </p:sp>
      <p:sp>
        <p:nvSpPr>
          <p:cNvPr id="27" name="Text 25"/>
          <p:cNvSpPr txBox="1"/>
          <p:nvPr/>
        </p:nvSpPr>
        <p:spPr>
          <a:xfrm>
            <a:off x="4562856" y="32415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832104" y="3483864"/>
            <a:ext cx="5468112" cy="274320"/>
          </a:xfrm>
          <a:prstGeom prst="rect">
            <a:avLst>
              <a:gd name="adj" fmla="val 26667"/>
            </a:avLst>
          </a:prstGeom>
          <a:solidFill>
            <a:srgbClr val="F2F5FA"/>
          </a:solidFill>
          <a:ln w="1270">
            <a:solidFill>
              <a:srgbClr val="F2F5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3544" y="351586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Clothing</a:t>
            </a:r>
            <a:endParaRPr lang="en-US" sz="930" dirty="0"/>
          </a:p>
        </p:txBody>
      </p:sp>
      <p:sp>
        <p:nvSpPr>
          <p:cNvPr id="30" name="Text 28"/>
          <p:cNvSpPr txBox="1"/>
          <p:nvPr/>
        </p:nvSpPr>
        <p:spPr>
          <a:xfrm>
            <a:off x="2221992" y="35158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Pants</a:t>
            </a:r>
            <a:endParaRPr lang="en-US" sz="930" dirty="0"/>
          </a:p>
        </p:txBody>
      </p:sp>
      <p:sp>
        <p:nvSpPr>
          <p:cNvPr id="31" name="Text 29"/>
          <p:cNvSpPr txBox="1"/>
          <p:nvPr/>
        </p:nvSpPr>
        <p:spPr>
          <a:xfrm>
            <a:off x="4562856" y="35158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171</a:t>
            </a:r>
            <a:endParaRPr lang="en-US" sz="930" dirty="0"/>
          </a:p>
        </p:txBody>
      </p:sp>
      <p:sp>
        <p:nvSpPr>
          <p:cNvPr id="32" name="Text 30"/>
          <p:cNvSpPr txBox="1"/>
          <p:nvPr/>
        </p:nvSpPr>
        <p:spPr>
          <a:xfrm>
            <a:off x="923544" y="379018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Clothing</a:t>
            </a:r>
            <a:endParaRPr lang="en-US" sz="930" dirty="0"/>
          </a:p>
        </p:txBody>
      </p:sp>
      <p:sp>
        <p:nvSpPr>
          <p:cNvPr id="33" name="Text 31"/>
          <p:cNvSpPr txBox="1"/>
          <p:nvPr/>
        </p:nvSpPr>
        <p:spPr>
          <a:xfrm>
            <a:off x="2221992" y="37901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Shirt</a:t>
            </a:r>
            <a:endParaRPr lang="en-US" sz="930" dirty="0"/>
          </a:p>
        </p:txBody>
      </p:sp>
      <p:sp>
        <p:nvSpPr>
          <p:cNvPr id="34" name="Text 32"/>
          <p:cNvSpPr txBox="1"/>
          <p:nvPr/>
        </p:nvSpPr>
        <p:spPr>
          <a:xfrm>
            <a:off x="4562856" y="37901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169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832104" y="4032504"/>
            <a:ext cx="5468112" cy="274320"/>
          </a:xfrm>
          <a:prstGeom prst="rect">
            <a:avLst>
              <a:gd name="adj" fmla="val 26667"/>
            </a:avLst>
          </a:prstGeom>
          <a:solidFill>
            <a:srgbClr val="F2F5FA"/>
          </a:solidFill>
          <a:ln w="1270">
            <a:solidFill>
              <a:srgbClr val="F2F5F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23544" y="406450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Footwear</a:t>
            </a:r>
            <a:endParaRPr lang="en-US" sz="930" dirty="0"/>
          </a:p>
        </p:txBody>
      </p:sp>
      <p:sp>
        <p:nvSpPr>
          <p:cNvPr id="37" name="Text 35"/>
          <p:cNvSpPr txBox="1"/>
          <p:nvPr/>
        </p:nvSpPr>
        <p:spPr>
          <a:xfrm>
            <a:off x="2221992" y="40645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Sandals</a:t>
            </a:r>
            <a:endParaRPr lang="en-US" sz="930" dirty="0"/>
          </a:p>
        </p:txBody>
      </p:sp>
      <p:sp>
        <p:nvSpPr>
          <p:cNvPr id="38" name="Text 36"/>
          <p:cNvSpPr txBox="1"/>
          <p:nvPr/>
        </p:nvSpPr>
        <p:spPr>
          <a:xfrm>
            <a:off x="4562856" y="40645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160</a:t>
            </a:r>
            <a:endParaRPr lang="en-US" sz="930" dirty="0"/>
          </a:p>
        </p:txBody>
      </p:sp>
      <p:sp>
        <p:nvSpPr>
          <p:cNvPr id="39" name="Text 37"/>
          <p:cNvSpPr txBox="1"/>
          <p:nvPr/>
        </p:nvSpPr>
        <p:spPr>
          <a:xfrm>
            <a:off x="923544" y="433882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Footwear</a:t>
            </a:r>
            <a:endParaRPr lang="en-US" sz="930" dirty="0"/>
          </a:p>
        </p:txBody>
      </p:sp>
      <p:sp>
        <p:nvSpPr>
          <p:cNvPr id="40" name="Text 38"/>
          <p:cNvSpPr txBox="1"/>
          <p:nvPr/>
        </p:nvSpPr>
        <p:spPr>
          <a:xfrm>
            <a:off x="2221992" y="43388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Shoes</a:t>
            </a:r>
            <a:endParaRPr lang="en-US" sz="930" dirty="0"/>
          </a:p>
        </p:txBody>
      </p:sp>
      <p:sp>
        <p:nvSpPr>
          <p:cNvPr id="41" name="Text 39"/>
          <p:cNvSpPr txBox="1"/>
          <p:nvPr/>
        </p:nvSpPr>
        <p:spPr>
          <a:xfrm>
            <a:off x="4562856" y="433882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32104" y="4581144"/>
            <a:ext cx="5468112" cy="274320"/>
          </a:xfrm>
          <a:prstGeom prst="rect">
            <a:avLst>
              <a:gd name="adj" fmla="val 26667"/>
            </a:avLst>
          </a:prstGeom>
          <a:solidFill>
            <a:srgbClr val="F2F5FA"/>
          </a:solidFill>
          <a:ln w="1270">
            <a:solidFill>
              <a:srgbClr val="F2F5F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23544" y="461314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Footwear</a:t>
            </a:r>
            <a:endParaRPr lang="en-US" sz="930" dirty="0"/>
          </a:p>
        </p:txBody>
      </p:sp>
      <p:sp>
        <p:nvSpPr>
          <p:cNvPr id="44" name="Text 42"/>
          <p:cNvSpPr txBox="1"/>
          <p:nvPr/>
        </p:nvSpPr>
        <p:spPr>
          <a:xfrm>
            <a:off x="2221992" y="46131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Sneakers</a:t>
            </a:r>
            <a:endParaRPr lang="en-US" sz="930" dirty="0"/>
          </a:p>
        </p:txBody>
      </p:sp>
      <p:sp>
        <p:nvSpPr>
          <p:cNvPr id="45" name="Text 43"/>
          <p:cNvSpPr txBox="1"/>
          <p:nvPr/>
        </p:nvSpPr>
        <p:spPr>
          <a:xfrm>
            <a:off x="4562856" y="46131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145</a:t>
            </a:r>
            <a:endParaRPr lang="en-US" sz="930" dirty="0"/>
          </a:p>
        </p:txBody>
      </p:sp>
      <p:sp>
        <p:nvSpPr>
          <p:cNvPr id="46" name="Text 44"/>
          <p:cNvSpPr txBox="1"/>
          <p:nvPr/>
        </p:nvSpPr>
        <p:spPr>
          <a:xfrm>
            <a:off x="923544" y="488746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Outerwear</a:t>
            </a:r>
            <a:endParaRPr lang="en-US" sz="930" dirty="0"/>
          </a:p>
        </p:txBody>
      </p:sp>
      <p:sp>
        <p:nvSpPr>
          <p:cNvPr id="47" name="Text 45"/>
          <p:cNvSpPr txBox="1"/>
          <p:nvPr/>
        </p:nvSpPr>
        <p:spPr>
          <a:xfrm>
            <a:off x="2221992" y="488746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Jacket</a:t>
            </a:r>
            <a:endParaRPr lang="en-US" sz="930" dirty="0"/>
          </a:p>
        </p:txBody>
      </p:sp>
      <p:sp>
        <p:nvSpPr>
          <p:cNvPr id="48" name="Text 46"/>
          <p:cNvSpPr txBox="1"/>
          <p:nvPr/>
        </p:nvSpPr>
        <p:spPr>
          <a:xfrm>
            <a:off x="4562856" y="488746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163</a:t>
            </a:r>
            <a:endParaRPr lang="en-US" sz="930" dirty="0"/>
          </a:p>
        </p:txBody>
      </p:sp>
      <p:sp>
        <p:nvSpPr>
          <p:cNvPr id="49" name="Shape 47"/>
          <p:cNvSpPr/>
          <p:nvPr/>
        </p:nvSpPr>
        <p:spPr>
          <a:xfrm>
            <a:off x="832104" y="5129784"/>
            <a:ext cx="5468112" cy="274320"/>
          </a:xfrm>
          <a:prstGeom prst="rect">
            <a:avLst>
              <a:gd name="adj" fmla="val 26667"/>
            </a:avLst>
          </a:prstGeom>
          <a:solidFill>
            <a:srgbClr val="F2F5FA"/>
          </a:solidFill>
          <a:ln w="1270">
            <a:solidFill>
              <a:srgbClr val="F2F5FA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23544" y="5161788"/>
            <a:ext cx="1225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Outerwear</a:t>
            </a:r>
            <a:endParaRPr lang="en-US" sz="930" dirty="0"/>
          </a:p>
        </p:txBody>
      </p:sp>
      <p:sp>
        <p:nvSpPr>
          <p:cNvPr id="51" name="Text 49"/>
          <p:cNvSpPr txBox="1"/>
          <p:nvPr/>
        </p:nvSpPr>
        <p:spPr>
          <a:xfrm>
            <a:off x="2221992" y="516178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Coat</a:t>
            </a:r>
            <a:endParaRPr lang="en-US" sz="930" dirty="0"/>
          </a:p>
        </p:txBody>
      </p:sp>
      <p:sp>
        <p:nvSpPr>
          <p:cNvPr id="52" name="Text 50"/>
          <p:cNvSpPr txBox="1"/>
          <p:nvPr/>
        </p:nvSpPr>
        <p:spPr>
          <a:xfrm>
            <a:off x="4562856" y="516178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3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161</a:t>
            </a:r>
            <a:endParaRPr lang="en-US" sz="930" dirty="0"/>
          </a:p>
        </p:txBody>
      </p:sp>
      <p:sp>
        <p:nvSpPr>
          <p:cNvPr id="53" name="Text 51"/>
          <p:cNvSpPr txBox="1"/>
          <p:nvPr/>
        </p:nvSpPr>
        <p:spPr>
          <a:xfrm>
            <a:off x="841248" y="5513832"/>
            <a:ext cx="5440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i="1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 lists two Outerwear items in this table.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6839712" y="1408176"/>
            <a:ext cx="4773168" cy="4544568"/>
          </a:xfrm>
          <a:prstGeom prst="roundRect">
            <a:avLst>
              <a:gd name="adj" fmla="val 1610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7114032" y="1664208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BY AGE GROUP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7114032" y="197510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8C9AA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revenue (USD)</a:t>
            </a:r>
            <a:endParaRPr lang="en-US" sz="920" dirty="0"/>
          </a:p>
        </p:txBody>
      </p:sp>
      <p:sp>
        <p:nvSpPr>
          <p:cNvPr id="57" name="Text 55"/>
          <p:cNvSpPr txBox="1"/>
          <p:nvPr/>
        </p:nvSpPr>
        <p:spPr>
          <a:xfrm>
            <a:off x="7114032" y="2441448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Adult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8412480" y="2500884"/>
            <a:ext cx="1892808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412480" y="2500884"/>
            <a:ext cx="1729776" cy="128016"/>
          </a:xfrm>
          <a:prstGeom prst="roundRect">
            <a:avLst>
              <a:gd name="adj" fmla="val 57143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10360152" y="2436876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$62,143</a:t>
            </a:r>
            <a:endParaRPr lang="en-US" sz="980" dirty="0"/>
          </a:p>
        </p:txBody>
      </p:sp>
      <p:sp>
        <p:nvSpPr>
          <p:cNvPr id="61" name="Text 59"/>
          <p:cNvSpPr txBox="1"/>
          <p:nvPr/>
        </p:nvSpPr>
        <p:spPr>
          <a:xfrm>
            <a:off x="7114032" y="3136392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Middle-Aged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8412480" y="3195828"/>
            <a:ext cx="1892808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412480" y="3195828"/>
            <a:ext cx="1647773" cy="128016"/>
          </a:xfrm>
          <a:prstGeom prst="roundRect">
            <a:avLst>
              <a:gd name="adj" fmla="val 57143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10360152" y="3131820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$59,197</a:t>
            </a:r>
            <a:endParaRPr lang="en-US" sz="980" dirty="0"/>
          </a:p>
        </p:txBody>
      </p:sp>
      <p:sp>
        <p:nvSpPr>
          <p:cNvPr id="65" name="Text 63"/>
          <p:cNvSpPr txBox="1"/>
          <p:nvPr/>
        </p:nvSpPr>
        <p:spPr>
          <a:xfrm>
            <a:off x="7114032" y="383133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Adult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8412480" y="3890772"/>
            <a:ext cx="1892808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412480" y="3890772"/>
            <a:ext cx="1558171" cy="128016"/>
          </a:xfrm>
          <a:prstGeom prst="roundRect">
            <a:avLst>
              <a:gd name="adj" fmla="val 57143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10360152" y="3826764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$55,978</a:t>
            </a:r>
            <a:endParaRPr lang="en-US" sz="980" dirty="0"/>
          </a:p>
        </p:txBody>
      </p:sp>
      <p:sp>
        <p:nvSpPr>
          <p:cNvPr id="69" name="Text 67"/>
          <p:cNvSpPr txBox="1"/>
          <p:nvPr/>
        </p:nvSpPr>
        <p:spPr>
          <a:xfrm>
            <a:off x="7114032" y="4526280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726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Senior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8412480" y="4585716"/>
            <a:ext cx="1892808" cy="128016"/>
          </a:xfrm>
          <a:prstGeom prst="roundRect">
            <a:avLst>
              <a:gd name="adj" fmla="val 57143"/>
            </a:avLst>
          </a:prstGeom>
          <a:solidFill>
            <a:srgbClr val="E7ECF4"/>
          </a:solidFill>
          <a:ln w="1270">
            <a:solidFill>
              <a:srgbClr val="E7ECF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412480" y="4585716"/>
            <a:ext cx="1552186" cy="128016"/>
          </a:xfrm>
          <a:prstGeom prst="roundRect">
            <a:avLst>
              <a:gd name="adj" fmla="val 57143"/>
            </a:avLst>
          </a:prstGeom>
          <a:solidFill>
            <a:srgbClr val="E35D6A"/>
          </a:solidFill>
          <a:ln w="1270">
            <a:solidFill>
              <a:srgbClr val="E35D6A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10360152" y="4521708"/>
            <a:ext cx="8961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8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$55,763</a:t>
            </a:r>
            <a:endParaRPr lang="en-US" sz="980" dirty="0"/>
          </a:p>
        </p:txBody>
      </p:sp>
      <p:sp>
        <p:nvSpPr>
          <p:cNvPr id="73" name="Shape 71"/>
          <p:cNvSpPr/>
          <p:nvPr/>
        </p:nvSpPr>
        <p:spPr>
          <a:xfrm>
            <a:off x="7114032" y="5422392"/>
            <a:ext cx="4151376" cy="329184"/>
          </a:xfrm>
          <a:prstGeom prst="roundRect">
            <a:avLst>
              <a:gd name="adj" fmla="val 22222"/>
            </a:avLst>
          </a:prstGeom>
          <a:solidFill>
            <a:srgbClr val="F0FAF8"/>
          </a:solidFill>
          <a:ln w="10160">
            <a:solidFill>
              <a:srgbClr val="D0F0E9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242048" y="548640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678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Adult leads the four age groups shown.</a:t>
            </a:r>
            <a:endParaRPr lang="en-US" sz="9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POWER BI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dashboard brings the analysis together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combines headline KPIs, filters and visual comparisons for subscription, category and age-group views.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12064" y="1389888"/>
            <a:ext cx="8641080" cy="4864608"/>
          </a:xfrm>
          <a:prstGeom prst="roundRect">
            <a:avLst>
              <a:gd name="adj" fmla="val 1504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pic>
        <p:nvPicPr>
          <p:cNvPr id="9" name="Image 0" descr="/mnt/data/ppt_work/powerbi_dashboard_f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481328"/>
            <a:ext cx="8458200" cy="4754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372600" y="1389888"/>
            <a:ext cx="2240280" cy="4864608"/>
          </a:xfrm>
          <a:prstGeom prst="roundRect">
            <a:avLst>
              <a:gd name="adj" fmla="val 3265"/>
            </a:avLst>
          </a:prstGeom>
          <a:solidFill>
            <a:srgbClr val="12213A"/>
          </a:solidFill>
          <a:ln w="1270">
            <a:solidFill>
              <a:srgbClr val="1221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37776" y="1682496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HIGHLIGHTS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9628632" y="2395728"/>
            <a:ext cx="1709928" cy="0"/>
          </a:xfrm>
          <a:prstGeom prst="line">
            <a:avLst/>
          </a:prstGeom>
          <a:noFill/>
          <a:ln w="10160">
            <a:solidFill>
              <a:srgbClr val="40577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10344" y="2615184"/>
            <a:ext cx="1773936" cy="731520"/>
          </a:xfrm>
          <a:prstGeom prst="roundRect">
            <a:avLst>
              <a:gd name="adj" fmla="val 10000"/>
            </a:avLst>
          </a:prstGeom>
          <a:solidFill>
            <a:srgbClr val="203A5F"/>
          </a:solidFill>
          <a:ln w="10160">
            <a:solidFill>
              <a:srgbClr val="38557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738360" y="2770632"/>
            <a:ext cx="64008" cy="393192"/>
          </a:xfrm>
          <a:prstGeom prst="roundRect">
            <a:avLst>
              <a:gd name="adj" fmla="val 114286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912096" y="2706624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$59.76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912096" y="300837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4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purchase amount</a:t>
            </a:r>
            <a:endParaRPr lang="en-US" sz="890" dirty="0"/>
          </a:p>
        </p:txBody>
      </p:sp>
      <p:sp>
        <p:nvSpPr>
          <p:cNvPr id="17" name="Shape 14"/>
          <p:cNvSpPr/>
          <p:nvPr/>
        </p:nvSpPr>
        <p:spPr>
          <a:xfrm>
            <a:off x="9610344" y="3511296"/>
            <a:ext cx="1773936" cy="731520"/>
          </a:xfrm>
          <a:prstGeom prst="roundRect">
            <a:avLst>
              <a:gd name="adj" fmla="val 10000"/>
            </a:avLst>
          </a:prstGeom>
          <a:solidFill>
            <a:srgbClr val="203A5F"/>
          </a:solidFill>
          <a:ln w="10160">
            <a:solidFill>
              <a:srgbClr val="38557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738360" y="3666744"/>
            <a:ext cx="64008" cy="393192"/>
          </a:xfrm>
          <a:prstGeom prst="roundRect">
            <a:avLst>
              <a:gd name="adj" fmla="val 114286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912096" y="360273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3.75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912096" y="390448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4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review rating</a:t>
            </a:r>
            <a:endParaRPr lang="en-US" sz="890" dirty="0"/>
          </a:p>
        </p:txBody>
      </p:sp>
      <p:sp>
        <p:nvSpPr>
          <p:cNvPr id="21" name="Shape 18"/>
          <p:cNvSpPr/>
          <p:nvPr/>
        </p:nvSpPr>
        <p:spPr>
          <a:xfrm>
            <a:off x="9610344" y="4407408"/>
            <a:ext cx="1773936" cy="731520"/>
          </a:xfrm>
          <a:prstGeom prst="roundRect">
            <a:avLst>
              <a:gd name="adj" fmla="val 10000"/>
            </a:avLst>
          </a:prstGeom>
          <a:solidFill>
            <a:srgbClr val="203A5F"/>
          </a:solidFill>
          <a:ln w="10160">
            <a:solidFill>
              <a:srgbClr val="38557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38360" y="4562856"/>
            <a:ext cx="64008" cy="393192"/>
          </a:xfrm>
          <a:prstGeom prst="roundRect">
            <a:avLst>
              <a:gd name="adj" fmla="val 114286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12096" y="44988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3.9K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9912096" y="4800600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dirty="0">
                <a:solidFill>
                  <a:srgbClr val="C4D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 of customers</a:t>
            </a:r>
            <a:endParaRPr lang="en-US" sz="890" dirty="0"/>
          </a:p>
        </p:txBody>
      </p:sp>
      <p:sp>
        <p:nvSpPr>
          <p:cNvPr id="25" name="Text 22"/>
          <p:cNvSpPr txBox="1"/>
          <p:nvPr/>
        </p:nvSpPr>
        <p:spPr>
          <a:xfrm>
            <a:off x="9637776" y="5440680"/>
            <a:ext cx="167335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D2DB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Filters: subscription status, gender, category and shipping type.</a:t>
            </a:r>
            <a:endParaRPr lang="en-US" sz="9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spc="180" kern="0" dirty="0">
                <a:solidFill>
                  <a:srgbClr val="16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RECOMMENDATIONS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530352" y="53035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Turn the findings into focused actions</a:t>
            </a:r>
            <a:endParaRPr lang="en-US" sz="25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05840"/>
            <a:ext cx="10972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source recommendations connect the analysis to subscription growth, loyalty, discount policy and targeting.</a:t>
            </a:r>
            <a:endParaRPr lang="en-US" sz="1080" dirty="0"/>
          </a:p>
        </p:txBody>
      </p:sp>
      <p:sp>
        <p:nvSpPr>
          <p:cNvPr id="5" name="Shape 3"/>
          <p:cNvSpPr/>
          <p:nvPr/>
        </p:nvSpPr>
        <p:spPr>
          <a:xfrm>
            <a:off x="530352" y="6483096"/>
            <a:ext cx="11146536" cy="0"/>
          </a:xfrm>
          <a:prstGeom prst="line">
            <a:avLst/>
          </a:prstGeom>
          <a:noFill/>
          <a:ln w="8890">
            <a:solidFill>
              <a:srgbClr val="DEE5E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6556248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spc="80" kern="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064240" y="6547104"/>
            <a:ext cx="5760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7A8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13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66928" y="146304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66420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8096" y="167335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166420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 subscriptions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786384" y="2221992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exclusive subscriber benefits and communicate them clearly.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786384" y="2816352"/>
            <a:ext cx="2944368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6384" y="29260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split: 27% Yes / 73% No</a:t>
            </a:r>
            <a:endParaRPr lang="en-US" sz="890" dirty="0"/>
          </a:p>
        </p:txBody>
      </p:sp>
      <p:sp>
        <p:nvSpPr>
          <p:cNvPr id="15" name="Shape 13"/>
          <p:cNvSpPr/>
          <p:nvPr/>
        </p:nvSpPr>
        <p:spPr>
          <a:xfrm>
            <a:off x="4407408" y="146304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08576" y="166420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08576" y="167335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5157216" y="166420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loyalty journeys</a:t>
            </a:r>
            <a:endParaRPr lang="en-US" sz="1550" dirty="0"/>
          </a:p>
        </p:txBody>
      </p:sp>
      <p:sp>
        <p:nvSpPr>
          <p:cNvPr id="19" name="Text 17"/>
          <p:cNvSpPr txBox="1"/>
          <p:nvPr/>
        </p:nvSpPr>
        <p:spPr>
          <a:xfrm>
            <a:off x="4626864" y="2221992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Reward repeat buyers and create steps that help Returning customers become Loyal.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4626864" y="2816352"/>
            <a:ext cx="2944368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626864" y="29260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Loyal: 3,116 | Returning: 701 | New: 83</a:t>
            </a:r>
            <a:endParaRPr lang="en-US" sz="890" dirty="0"/>
          </a:p>
        </p:txBody>
      </p:sp>
      <p:sp>
        <p:nvSpPr>
          <p:cNvPr id="22" name="Shape 20"/>
          <p:cNvSpPr/>
          <p:nvPr/>
        </p:nvSpPr>
        <p:spPr>
          <a:xfrm>
            <a:off x="8247888" y="1463040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49056" y="1664208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449056" y="1673352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8997696" y="1664208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discount economics</a:t>
            </a:r>
            <a:endParaRPr lang="en-US" sz="1550" dirty="0"/>
          </a:p>
        </p:txBody>
      </p:sp>
      <p:sp>
        <p:nvSpPr>
          <p:cNvPr id="26" name="Text 24"/>
          <p:cNvSpPr txBox="1"/>
          <p:nvPr/>
        </p:nvSpPr>
        <p:spPr>
          <a:xfrm>
            <a:off x="8467344" y="2221992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 sales lift against margin impact before expanding discounts.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8467344" y="2816352"/>
            <a:ext cx="2944368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67344" y="2926080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Hat: 50.00% discount rate; Sneakers: 49.66%</a:t>
            </a:r>
            <a:endParaRPr lang="en-US" sz="890" dirty="0"/>
          </a:p>
        </p:txBody>
      </p:sp>
      <p:sp>
        <p:nvSpPr>
          <p:cNvPr id="29" name="Shape 27"/>
          <p:cNvSpPr/>
          <p:nvPr/>
        </p:nvSpPr>
        <p:spPr>
          <a:xfrm>
            <a:off x="2487168" y="3675888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88336" y="3877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E35D6A"/>
          </a:solidFill>
          <a:ln w="1270">
            <a:solidFill>
              <a:srgbClr val="E35D6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688336" y="388620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3236976" y="387705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Promote proven products</a:t>
            </a:r>
            <a:endParaRPr lang="en-US" sz="1550" dirty="0"/>
          </a:p>
        </p:txBody>
      </p:sp>
      <p:sp>
        <p:nvSpPr>
          <p:cNvPr id="33" name="Text 31"/>
          <p:cNvSpPr txBox="1"/>
          <p:nvPr/>
        </p:nvSpPr>
        <p:spPr>
          <a:xfrm>
            <a:off x="2706624" y="4434840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highly rated products alongside category best-sellers in campaigns.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2706624" y="5029200"/>
            <a:ext cx="2944368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706624" y="51389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Gloves lead average rating at 3.86</a:t>
            </a:r>
            <a:endParaRPr lang="en-US" sz="890" dirty="0"/>
          </a:p>
        </p:txBody>
      </p:sp>
      <p:sp>
        <p:nvSpPr>
          <p:cNvPr id="36" name="Shape 34"/>
          <p:cNvSpPr/>
          <p:nvPr/>
        </p:nvSpPr>
        <p:spPr>
          <a:xfrm>
            <a:off x="6327648" y="3675888"/>
            <a:ext cx="33832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DEE5E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28816" y="3877056"/>
            <a:ext cx="438912" cy="438912"/>
          </a:xfrm>
          <a:prstGeom prst="roundRect">
            <a:avLst>
              <a:gd name="adj" fmla="val 16667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28816" y="3886200"/>
            <a:ext cx="438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7077456" y="3877056"/>
            <a:ext cx="2441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221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Target by customer value</a:t>
            </a:r>
            <a:endParaRPr lang="en-US" sz="1550" dirty="0"/>
          </a:p>
        </p:txBody>
      </p:sp>
      <p:sp>
        <p:nvSpPr>
          <p:cNvPr id="40" name="Text 38"/>
          <p:cNvSpPr txBox="1"/>
          <p:nvPr/>
        </p:nvSpPr>
        <p:spPr>
          <a:xfrm>
            <a:off x="6547104" y="4434840"/>
            <a:ext cx="29443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audiences and fulfillment options that align with stronger observed revenue or spend.</a:t>
            </a:r>
            <a:endParaRPr lang="en-US" sz="1030" dirty="0"/>
          </a:p>
        </p:txBody>
      </p:sp>
      <p:sp>
        <p:nvSpPr>
          <p:cNvPr id="41" name="Shape 39"/>
          <p:cNvSpPr/>
          <p:nvPr/>
        </p:nvSpPr>
        <p:spPr>
          <a:xfrm>
            <a:off x="6547104" y="5029200"/>
            <a:ext cx="2944368" cy="0"/>
          </a:xfrm>
          <a:prstGeom prst="line">
            <a:avLst/>
          </a:prstGeom>
          <a:noFill/>
          <a:ln w="10160">
            <a:solidFill>
              <a:srgbClr val="DEE5E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547104" y="5138928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90" b="1" dirty="0">
                <a:solidFill>
                  <a:srgbClr val="1221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Young Adult revenue: $62,143 | Express avg: $60.48</a:t>
            </a:r>
            <a:endParaRPr lang="en-US" sz="890" dirty="0"/>
          </a:p>
        </p:txBody>
      </p:sp>
      <p:sp>
        <p:nvSpPr>
          <p:cNvPr id="43" name="Text 41"/>
          <p:cNvSpPr txBox="1"/>
          <p:nvPr/>
        </p:nvSpPr>
        <p:spPr>
          <a:xfrm>
            <a:off x="713232" y="5916168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60" i="1" dirty="0">
                <a:solidFill>
                  <a:srgbClr val="5F6F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 guardrail: treat the results as descriptive until tested against margin, conversion and customer-level rates.</a:t>
            </a:r>
            <a:endParaRPr lang="en-US" sz="9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21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9436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spc="18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TAKEAWAY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05840"/>
            <a:ext cx="65836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transactions to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actionable decisions</a:t>
            </a:r>
            <a:endParaRPr lang="en-US" sz="3300" dirty="0"/>
          </a:p>
        </p:txBody>
      </p:sp>
      <p:sp>
        <p:nvSpPr>
          <p:cNvPr id="4" name="Text 2"/>
          <p:cNvSpPr txBox="1"/>
          <p:nvPr/>
        </p:nvSpPr>
        <p:spPr>
          <a:xfrm>
            <a:off x="694944" y="2450592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3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project demonstrates an end-to-end analytics workflow: preparing data in Python, querying business questions in MySQL, and presenting the findings in Power BI.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13232" y="3776472"/>
            <a:ext cx="2029968" cy="1124712"/>
          </a:xfrm>
          <a:prstGeom prst="roundRect">
            <a:avLst>
              <a:gd name="adj" fmla="val 6504"/>
            </a:avLst>
          </a:prstGeom>
          <a:solidFill>
            <a:srgbClr val="203A5F"/>
          </a:solidFill>
          <a:ln w="10160">
            <a:solidFill>
              <a:srgbClr val="3A55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" y="3968496"/>
            <a:ext cx="73152" cy="704088"/>
          </a:xfrm>
          <a:prstGeom prst="roundRect">
            <a:avLst>
              <a:gd name="adj" fmla="val 100000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60704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BFC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41970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</a:t>
            </a:r>
            <a:endParaRPr lang="en-US" sz="1130" dirty="0"/>
          </a:p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063240" y="3776472"/>
            <a:ext cx="2029968" cy="1124712"/>
          </a:xfrm>
          <a:prstGeom prst="roundRect">
            <a:avLst>
              <a:gd name="adj" fmla="val 6504"/>
            </a:avLst>
          </a:prstGeom>
          <a:solidFill>
            <a:srgbClr val="203A5F"/>
          </a:solidFill>
          <a:ln w="10160">
            <a:solidFill>
              <a:srgbClr val="3A55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7832" y="3968496"/>
            <a:ext cx="73152" cy="704088"/>
          </a:xfrm>
          <a:prstGeom prst="roundRect">
            <a:avLst>
              <a:gd name="adj" fmla="val 100000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10712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BFC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MYSQL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410712" y="41970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analysis</a:t>
            </a:r>
            <a:endParaRPr lang="en-US" sz="1130" dirty="0"/>
          </a:p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SQL query practice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5413248" y="3776472"/>
            <a:ext cx="2029968" cy="1124712"/>
          </a:xfrm>
          <a:prstGeom prst="roundRect">
            <a:avLst>
              <a:gd name="adj" fmla="val 6504"/>
            </a:avLst>
          </a:prstGeom>
          <a:solidFill>
            <a:srgbClr val="203A5F"/>
          </a:solidFill>
          <a:ln w="10160">
            <a:solidFill>
              <a:srgbClr val="3A55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77840" y="3968496"/>
            <a:ext cx="73152" cy="704088"/>
          </a:xfrm>
          <a:prstGeom prst="roundRect">
            <a:avLst>
              <a:gd name="adj" fmla="val 100000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76072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80" kern="0" dirty="0">
                <a:solidFill>
                  <a:srgbClr val="BFCD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419709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KPIs and filters</a:t>
            </a:r>
            <a:endParaRPr lang="en-US" sz="1130" dirty="0"/>
          </a:p>
          <a:p>
            <a:pPr algn="l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communication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8028432" y="1069848"/>
            <a:ext cx="3383280" cy="4160520"/>
          </a:xfrm>
          <a:prstGeom prst="roundRect">
            <a:avLst>
              <a:gd name="adj" fmla="val 2162"/>
            </a:avLst>
          </a:prstGeom>
          <a:solidFill>
            <a:srgbClr val="1B3152"/>
          </a:solidFill>
          <a:ln w="10160">
            <a:solidFill>
              <a:srgbClr val="2F496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39328" y="1435608"/>
            <a:ext cx="2606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9CDC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ITERATION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19385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actions with: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357616" y="249631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16B8A6"/>
          </a:solidFill>
          <a:ln w="1270">
            <a:solidFill>
              <a:srgbClr val="16B8A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13648" y="242316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3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Customer-level subscription rates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8357616" y="313639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F2C85B"/>
          </a:solidFill>
          <a:ln w="1270">
            <a:solidFill>
              <a:srgbClr val="F2C85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13648" y="306324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3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Discount margin impact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8357616" y="3776472"/>
            <a:ext cx="109728" cy="109728"/>
          </a:xfrm>
          <a:prstGeom prst="roundRect">
            <a:avLst>
              <a:gd name="adj" fmla="val 66667"/>
            </a:avLst>
          </a:prstGeom>
          <a:solidFill>
            <a:srgbClr val="4779E6"/>
          </a:solidFill>
          <a:ln w="1270">
            <a:solidFill>
              <a:srgbClr val="4779E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13648" y="3703320"/>
            <a:ext cx="2267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dirty="0">
                <a:solidFill>
                  <a:srgbClr val="D3DD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Trends across additional time periods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713232" y="5815584"/>
            <a:ext cx="10671048" cy="0"/>
          </a:xfrm>
          <a:prstGeom prst="line">
            <a:avLst/>
          </a:prstGeom>
          <a:noFill/>
          <a:ln w="11430">
            <a:solidFill>
              <a:srgbClr val="3D567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13232" y="60167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spc="140" kern="0" dirty="0">
                <a:solidFill>
                  <a:srgbClr val="8FA4B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SHOPPING BEHAVIOR ANALYSIS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998464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B8C5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 |  MYSQL  |  POWER BI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Customer Shopping Behavior Analysis project presentation</dc:subject>
  <dc:creator>OpenAI</dc:creator>
  <cp:lastModifiedBy>OpenAI</cp:lastModifiedBy>
  <cp:revision>1</cp:revision>
  <dcterms:created xsi:type="dcterms:W3CDTF">2026-10-11T15:37:31Z</dcterms:created>
  <dcterms:modified xsi:type="dcterms:W3CDTF">2026-10-11T15:37:31Z</dcterms:modified>
</cp:coreProperties>
</file>